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Val PSNR</c:v>
          </c:tx>
          <c:spPr>
            <a:ln w="25400">
              <a:solidFill>
                <a:srgbClr val="88E555"/>
              </a:solidFill>
            </a:ln>
          </c:spPr>
          <c:marker>
            <c:symbol val="circle"/>
            <c:size val="5"/>
            <c:spPr>
              <a:solidFill>
                <a:srgbClr val="88E555"/>
              </a:solidFill>
              <a:ln w="25400">
                <a:solidFill>
                  <a:srgbClr val="88E555"/>
                </a:solidFill>
              </a:ln>
            </c:spPr>
          </c:marker>
          <c:dLbls>
            <c:dLbl>
              <c:idx val="2"/>
              <c:layout>
                <c:manualLayout>
                  <c:x val="-1.0416666666666666E-2"/>
                  <c:y val="-3.98230088495575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275-41A3-8887-7F7B0BEFA287}"/>
                </c:ext>
              </c:extLst>
            </c:dLbl>
            <c:dLbl>
              <c:idx val="3"/>
              <c:layout>
                <c:manualLayout>
                  <c:x val="-4.583333333333333E-2"/>
                  <c:y val="-4.20353982300884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4218667979002627E-2"/>
                      <c:h val="4.0686014911852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275-41A3-8887-7F7B0BEFA287}"/>
                </c:ext>
              </c:extLst>
            </c:dLbl>
            <c:dLbl>
              <c:idx val="4"/>
              <c:layout>
                <c:manualLayout>
                  <c:x val="-3.3333333333333333E-2"/>
                  <c:y val="4.42477876106194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275-41A3-8887-7F7B0BEFA287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 noProof="1">
                    <a:solidFill>
                      <a:srgbClr val="D1D5D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</c:v>
              </c:pt>
              <c:pt idx="1">
                <c:v>10</c:v>
              </c:pt>
              <c:pt idx="2">
                <c:v>50</c:v>
              </c:pt>
              <c:pt idx="3">
                <c:v>100</c:v>
              </c:pt>
              <c:pt idx="4">
                <c:v>200</c:v>
              </c:pt>
              <c:pt idx="5">
                <c:v>246</c:v>
              </c:pt>
            </c:strLit>
          </c:cat>
          <c:val>
            <c:numLit>
              <c:formatCode>General</c:formatCode>
              <c:ptCount val="6"/>
              <c:pt idx="0">
                <c:v>18.96</c:v>
              </c:pt>
              <c:pt idx="1">
                <c:v>23.5</c:v>
              </c:pt>
              <c:pt idx="2">
                <c:v>24.27</c:v>
              </c:pt>
              <c:pt idx="3">
                <c:v>24.35</c:v>
              </c:pt>
              <c:pt idx="4">
                <c:v>24.64</c:v>
              </c:pt>
              <c:pt idx="5">
                <c:v>24.745000000000001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987F-4FA0-858D-47A044FE69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title>
          <c:tx>
            <c:rich>
              <a:bodyPr/>
              <a:lstStyle/>
              <a:p>
                <a:r>
                  <a:rPr lang="en-US" sz="900" noProof="1">
                    <a:solidFill>
                      <a:srgbClr val="9CA3AF"/>
                    </a:solidFill>
                  </a:rPr>
                  <a:t>Epoch</a:t>
                </a:r>
              </a:p>
            </c:rich>
          </c:tx>
          <c:layout>
            <c:manualLayout>
              <c:xMode val="edge"/>
              <c:yMode val="edge"/>
              <c:x val="0.48"/>
              <c:y val="0.82"/>
            </c:manualLayout>
          </c:layout>
          <c:overlay val="0"/>
        </c:title>
        <c:numFmt formatCode="General" sourceLinked="1"/>
        <c:majorTickMark val="out"/>
        <c:minorTickMark val="none"/>
        <c:tickLblPos val="low"/>
        <c:spPr>
          <a:ln w="12700">
            <a:solidFill>
              <a:srgbClr val="4B5563"/>
            </a:solidFill>
          </a:ln>
        </c:spPr>
        <c:txPr>
          <a:bodyPr/>
          <a:lstStyle/>
          <a:p>
            <a:pPr>
              <a:defRPr sz="900" b="0" i="0" u="none" strike="noStrike" noProof="1">
                <a:solidFill>
                  <a:srgbClr val="9CA3AF"/>
                </a:solidFill>
                <a:latin typeface="Poppi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6"/>
          <c:min val="18"/>
        </c:scaling>
        <c:delete val="0"/>
        <c:axPos val="l"/>
        <c:majorGridlines>
          <c:spPr>
            <a:ln w="12700">
              <a:solidFill>
                <a:srgbClr val="FFFFFF">
                  <a:alpha val="10196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900" noProof="1">
                    <a:solidFill>
                      <a:srgbClr val="9CA3AF"/>
                    </a:solidFill>
                  </a:rPr>
                  <a:t>PSNR (dB)</a:t>
                </a:r>
              </a:p>
            </c:rich>
          </c:tx>
          <c:layout>
            <c:manualLayout>
              <c:xMode val="edge"/>
              <c:yMode val="edge"/>
              <c:x val="0.02"/>
              <c:y val="0.44"/>
            </c:manualLayout>
          </c:layout>
          <c:overlay val="0"/>
        </c:title>
        <c:numFmt formatCode="0.0" sourceLinked="0"/>
        <c:majorTickMark val="out"/>
        <c:minorTickMark val="none"/>
        <c:tickLblPos val="nextTo"/>
        <c:spPr>
          <a:ln w="12700">
            <a:solidFill>
              <a:srgbClr val="4B5563"/>
            </a:solidFill>
          </a:ln>
        </c:spPr>
        <c:txPr>
          <a:bodyPr/>
          <a:lstStyle/>
          <a:p>
            <a:pPr>
              <a:defRPr sz="900" b="0" i="0" u="none" strike="noStrike" noProof="1">
                <a:solidFill>
                  <a:srgbClr val="9CA3AF"/>
                </a:solidFill>
                <a:latin typeface="Poppins"/>
              </a:defRPr>
            </a:pPr>
            <a:endParaRPr lang="en-US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Poppins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Time</c:v>
          </c:tx>
          <c:spPr>
            <a:solidFill>
              <a:srgbClr val="1783FE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 noProof="1">
                    <a:solidFill>
                      <a:srgbClr val="D1D5DB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Disk read</c:v>
              </c:pt>
              <c:pt idx="1">
                <c:v>Preprocess</c:v>
              </c:pt>
              <c:pt idx="2">
                <c:v>CPU→GPU</c:v>
              </c:pt>
              <c:pt idx="3">
                <c:v>Model fwd</c:v>
              </c:pt>
              <c:pt idx="4">
                <c:v>GPU→CPU</c:v>
              </c:pt>
              <c:pt idx="5">
                <c:v>Save .npy</c:v>
              </c:pt>
            </c:strLit>
          </c:cat>
          <c:val>
            <c:numLit>
              <c:formatCode>General</c:formatCode>
              <c:ptCount val="6"/>
              <c:pt idx="0">
                <c:v>6.4</c:v>
              </c:pt>
              <c:pt idx="1">
                <c:v>0.06</c:v>
              </c:pt>
              <c:pt idx="2">
                <c:v>0.02</c:v>
              </c:pt>
              <c:pt idx="3">
                <c:v>9.02</c:v>
              </c:pt>
              <c:pt idx="4">
                <c:v>0.34</c:v>
              </c:pt>
              <c:pt idx="5">
                <c:v>0.68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CB0-4E41-9C00-BFAEC7EF70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4B5563"/>
            </a:solidFill>
          </a:ln>
        </c:spPr>
        <c:txPr>
          <a:bodyPr/>
          <a:lstStyle/>
          <a:p>
            <a:pPr>
              <a:defRPr sz="800" b="0" i="0" u="none" strike="noStrike" noProof="1">
                <a:solidFill>
                  <a:srgbClr val="9CA3AF"/>
                </a:solidFill>
                <a:latin typeface="Poppi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"/>
          <c:min val="0"/>
        </c:scaling>
        <c:delete val="0"/>
        <c:axPos val="l"/>
        <c:majorGridlines>
          <c:spPr>
            <a:ln w="12700">
              <a:solidFill>
                <a:srgbClr val="FFFFFF">
                  <a:alpha val="10196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900" noProof="1">
                    <a:solidFill>
                      <a:srgbClr val="9CA3AF"/>
                    </a:solidFill>
                  </a:rPr>
                  <a:t>ms / image</a:t>
                </a:r>
              </a:p>
            </c:rich>
          </c:tx>
          <c:layout>
            <c:manualLayout>
              <c:xMode val="edge"/>
              <c:yMode val="edge"/>
              <c:x val="0.02"/>
              <c:y val="0.44"/>
            </c:manualLayout>
          </c:layout>
          <c:overlay val="0"/>
        </c:title>
        <c:numFmt formatCode="0.0" sourceLinked="0"/>
        <c:majorTickMark val="out"/>
        <c:minorTickMark val="none"/>
        <c:tickLblPos val="nextTo"/>
        <c:spPr>
          <a:ln w="12700">
            <a:solidFill>
              <a:srgbClr val="4B5563"/>
            </a:solidFill>
          </a:ln>
        </c:spPr>
        <c:txPr>
          <a:bodyPr/>
          <a:lstStyle/>
          <a:p>
            <a:pPr>
              <a:defRPr sz="900" b="0" i="0" u="none" strike="noStrike" noProof="1">
                <a:solidFill>
                  <a:srgbClr val="9CA3AF"/>
                </a:solidFill>
                <a:latin typeface="Poppins"/>
              </a:defRPr>
            </a:pPr>
            <a:endParaRPr lang="en-US"/>
          </a:p>
        </c:txPr>
        <c:crossAx val="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Poppins"/>
        </a:defRPr>
      </a:pPr>
      <a:endParaRPr lang="en-US"/>
    </a:p>
  </c:tx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pi.wandb.ai/links/drxqant-rajiv-gandhi-institute-of-petroleum-technology/054x98ki" TargetMode="External"/><Relationship Id="rId4" Type="http://schemas.openxmlformats.org/officeDocument/2006/relationships/hyperlink" Target="https://github.com/sahoo-rudra/PurePix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kicker"/>
          <p:cNvSpPr txBox="1"/>
          <p:nvPr/>
        </p:nvSpPr>
        <p:spPr>
          <a:xfrm>
            <a:off x="571500" y="13208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200" noProof="1">
                <a:solidFill>
                  <a:srgbClr val="88E555"/>
                </a:solidFill>
                <a:latin typeface="Poppins"/>
                <a:ea typeface="Poppins"/>
              </a:rPr>
              <a:t>HACKATHON 2026 — IDEA SUBMISSION</a:t>
            </a:r>
            <a:endParaRPr lang="en-US" sz="1200" noProof="1"/>
          </a:p>
        </p:txBody>
      </p:sp>
      <p:sp>
        <p:nvSpPr>
          <p:cNvPr id="6" name="main-title"/>
          <p:cNvSpPr txBox="1"/>
          <p:nvPr/>
        </p:nvSpPr>
        <p:spPr>
          <a:xfrm>
            <a:off x="571500" y="16002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FFFFFF"/>
                </a:solidFill>
                <a:latin typeface="Poppins"/>
                <a:ea typeface="Poppins"/>
              </a:rPr>
              <a:t>DegradationAwareNAFNet</a:t>
            </a:r>
            <a:endParaRPr lang="en-US" sz="3400" noProof="1"/>
          </a:p>
        </p:txBody>
      </p:sp>
      <p:sp>
        <p:nvSpPr>
          <p:cNvPr id="7" name="sub-title"/>
          <p:cNvSpPr txBox="1"/>
          <p:nvPr/>
        </p:nvSpPr>
        <p:spPr>
          <a:xfrm>
            <a:off x="571500" y="22098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AEFF82"/>
                </a:solidFill>
                <a:latin typeface="Poppins"/>
                <a:ea typeface="Poppins"/>
              </a:rPr>
              <a:t>Blind Restoration of Degraded Semiconductor Images</a:t>
            </a:r>
            <a:endParaRPr lang="en-US" sz="1900" noProof="1"/>
          </a:p>
        </p:txBody>
      </p:sp>
      <p:sp>
        <p:nvSpPr>
          <p:cNvPr id="8" name="card"/>
          <p:cNvSpPr/>
          <p:nvPr/>
        </p:nvSpPr>
        <p:spPr>
          <a:xfrm>
            <a:off x="571500" y="2768600"/>
            <a:ext cx="11049000" cy="3803650"/>
          </a:xfrm>
          <a:prstGeom prst="roundRect">
            <a:avLst>
              <a:gd name="adj" fmla="val 4277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9" name="c-tl"/>
          <p:cNvSpPr/>
          <p:nvPr/>
        </p:nvSpPr>
        <p:spPr>
          <a:xfrm>
            <a:off x="571500" y="276860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tr"/>
          <p:cNvSpPr/>
          <p:nvPr/>
        </p:nvSpPr>
        <p:spPr>
          <a:xfrm>
            <a:off x="11430000" y="276860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3" name="team-label"/>
          <p:cNvSpPr txBox="1"/>
          <p:nvPr/>
        </p:nvSpPr>
        <p:spPr>
          <a:xfrm>
            <a:off x="952500" y="29718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TEAM</a:t>
            </a:r>
            <a:endParaRPr lang="en-US" sz="1000" noProof="1"/>
          </a:p>
        </p:txBody>
      </p:sp>
      <p:sp>
        <p:nvSpPr>
          <p:cNvPr id="14" name="team-value"/>
          <p:cNvSpPr txBox="1"/>
          <p:nvPr/>
        </p:nvSpPr>
        <p:spPr>
          <a:xfrm>
            <a:off x="952500" y="317500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AEFF82"/>
                </a:solidFill>
                <a:latin typeface="Poppins"/>
                <a:ea typeface="Poppins"/>
              </a:rPr>
              <a:t>Team LOGIC LEGION</a:t>
            </a:r>
            <a:r>
              <a:rPr lang="en-US" sz="1400" noProof="1">
                <a:solidFill>
                  <a:srgbClr val="FFFFFF"/>
                </a:solidFill>
                <a:latin typeface="Poppins"/>
                <a:ea typeface="Poppins"/>
              </a:rPr>
              <a:t> — Sunandan Basantia, Rudra Pratap Sahoo, Aditi Tripathi</a:t>
            </a:r>
            <a:endParaRPr lang="en-US" sz="1400" noProof="1"/>
          </a:p>
        </p:txBody>
      </p:sp>
      <p:sp>
        <p:nvSpPr>
          <p:cNvPr id="15" name="divider1"/>
          <p:cNvSpPr/>
          <p:nvPr/>
        </p:nvSpPr>
        <p:spPr>
          <a:xfrm>
            <a:off x="952500" y="3606800"/>
            <a:ext cx="10287000" cy="889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6" name="sol-label"/>
          <p:cNvSpPr txBox="1"/>
          <p:nvPr/>
        </p:nvSpPr>
        <p:spPr>
          <a:xfrm>
            <a:off x="952500" y="3784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ONE-LINE SOLUTION</a:t>
            </a:r>
            <a:endParaRPr lang="en-US" sz="1000" noProof="1"/>
          </a:p>
        </p:txBody>
      </p:sp>
      <p:sp>
        <p:nvSpPr>
          <p:cNvPr id="17" name="sol-value"/>
          <p:cNvSpPr txBox="1"/>
          <p:nvPr/>
        </p:nvSpPr>
        <p:spPr>
          <a:xfrm>
            <a:off x="952500" y="3987800"/>
            <a:ext cx="10287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FFFFFF"/>
                </a:solidFill>
                <a:latin typeface="Poppins"/>
                <a:ea typeface="Poppins"/>
              </a:rPr>
              <a:t>FiLM-conditioned NAFNet with a PixelShuffle SR head achieves </a:t>
            </a:r>
            <a:r>
              <a:rPr lang="en-US" sz="1300" b="1" noProof="1">
                <a:solidFill>
                  <a:srgbClr val="AEFF82"/>
                </a:solidFill>
                <a:latin typeface="Poppins"/>
                <a:ea typeface="Poppins"/>
              </a:rPr>
              <a:t>PSNR 24.7450 dB</a:t>
            </a:r>
            <a:r>
              <a:rPr lang="en-US" sz="1300" noProof="1">
                <a:solidFill>
                  <a:srgbClr val="FFFFFF"/>
                </a:solidFill>
                <a:latin typeface="Poppins"/>
                <a:ea typeface="Poppins"/>
              </a:rPr>
              <a:t> on 320 validation images — </a:t>
            </a:r>
            <a:r>
              <a:rPr lang="en-US" sz="1300" b="1" noProof="1">
                <a:solidFill>
                  <a:srgbClr val="AEFF82"/>
                </a:solidFill>
                <a:latin typeface="Poppins"/>
                <a:ea typeface="Poppins"/>
              </a:rPr>
              <a:t>+1.59 dB</a:t>
            </a:r>
            <a:r>
              <a:rPr lang="en-US" sz="1300" noProof="1">
                <a:solidFill>
                  <a:srgbClr val="FFFFFF"/>
                </a:solidFill>
                <a:latin typeface="Poppins"/>
                <a:ea typeface="Poppins"/>
              </a:rPr>
              <a:t> over the bicubic baseline.</a:t>
            </a:r>
            <a:endParaRPr lang="en-US" sz="1300" noProof="1"/>
          </a:p>
        </p:txBody>
      </p:sp>
      <p:sp>
        <p:nvSpPr>
          <p:cNvPr id="18" name="chip0"/>
          <p:cNvSpPr/>
          <p:nvPr/>
        </p:nvSpPr>
        <p:spPr>
          <a:xfrm>
            <a:off x="952500" y="4724400"/>
            <a:ext cx="3327400" cy="5842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12700">
            <a:solidFill>
              <a:srgbClr val="88E555">
                <a:alpha val="40000"/>
              </a:srgbClr>
            </a:solidFill>
          </a:ln>
        </p:spPr>
      </p:sp>
      <p:sp>
        <p:nvSpPr>
          <p:cNvPr id="19" name="chip0-t"/>
          <p:cNvSpPr txBox="1"/>
          <p:nvPr/>
        </p:nvSpPr>
        <p:spPr>
          <a:xfrm>
            <a:off x="1104900" y="4775200"/>
            <a:ext cx="302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00" b="1" noProof="1">
                <a:solidFill>
                  <a:srgbClr val="9CA3AF"/>
                </a:solidFill>
                <a:latin typeface="Poppins"/>
                <a:ea typeface="Poppins"/>
              </a:rPr>
              <a:t>TASK</a:t>
            </a:r>
            <a:endParaRPr lang="en-US" sz="10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FFFFFF"/>
                </a:solidFill>
                <a:latin typeface="Poppins"/>
                <a:ea typeface="Poppins"/>
              </a:rPr>
              <a:t>2× Super-Resolution + Blind Denoising</a:t>
            </a:r>
            <a:endParaRPr lang="en-US" sz="1000" noProof="1"/>
          </a:p>
        </p:txBody>
      </p:sp>
      <p:sp>
        <p:nvSpPr>
          <p:cNvPr id="20" name="chip1"/>
          <p:cNvSpPr/>
          <p:nvPr/>
        </p:nvSpPr>
        <p:spPr>
          <a:xfrm>
            <a:off x="4432300" y="4724400"/>
            <a:ext cx="3327400" cy="5842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12700">
            <a:solidFill>
              <a:srgbClr val="88E555">
                <a:alpha val="40000"/>
              </a:srgbClr>
            </a:solidFill>
          </a:ln>
        </p:spPr>
      </p:sp>
      <p:sp>
        <p:nvSpPr>
          <p:cNvPr id="21" name="chip1-t"/>
          <p:cNvSpPr txBox="1"/>
          <p:nvPr/>
        </p:nvSpPr>
        <p:spPr>
          <a:xfrm>
            <a:off x="4584700" y="4775200"/>
            <a:ext cx="302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00" b="1" noProof="1">
                <a:solidFill>
                  <a:srgbClr val="9CA3AF"/>
                </a:solidFill>
                <a:latin typeface="Poppins"/>
                <a:ea typeface="Poppins"/>
              </a:rPr>
              <a:t>DEGRADATIONS</a:t>
            </a:r>
            <a:endParaRPr lang="en-US" sz="10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FFFFFF"/>
                </a:solidFill>
                <a:latin typeface="Poppins"/>
                <a:ea typeface="Poppins"/>
              </a:rPr>
              <a:t>Speckle + Gaussian + 2× Downsample</a:t>
            </a:r>
            <a:endParaRPr lang="en-US" sz="1000" noProof="1"/>
          </a:p>
        </p:txBody>
      </p:sp>
      <p:sp>
        <p:nvSpPr>
          <p:cNvPr id="22" name="chip2"/>
          <p:cNvSpPr/>
          <p:nvPr/>
        </p:nvSpPr>
        <p:spPr>
          <a:xfrm>
            <a:off x="7912100" y="4724400"/>
            <a:ext cx="3327400" cy="5842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12700">
            <a:solidFill>
              <a:srgbClr val="88E555">
                <a:alpha val="40000"/>
              </a:srgbClr>
            </a:solidFill>
          </a:ln>
        </p:spPr>
      </p:sp>
      <p:sp>
        <p:nvSpPr>
          <p:cNvPr id="23" name="chip2-t"/>
          <p:cNvSpPr txBox="1"/>
          <p:nvPr/>
        </p:nvSpPr>
        <p:spPr>
          <a:xfrm>
            <a:off x="8064500" y="4775200"/>
            <a:ext cx="302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00" b="1" noProof="1">
                <a:solidFill>
                  <a:srgbClr val="9CA3AF"/>
                </a:solidFill>
                <a:latin typeface="Poppins"/>
                <a:ea typeface="Poppins"/>
              </a:rPr>
              <a:t>CONSTRAINT</a:t>
            </a:r>
            <a:endParaRPr lang="en-US" sz="10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FFFFFF"/>
                </a:solidFill>
                <a:latin typeface="Poppins"/>
                <a:ea typeface="Poppins"/>
              </a:rPr>
              <a:t>Unknown order — model is blind</a:t>
            </a:r>
            <a:endParaRPr lang="en-US" sz="1000" noProof="1"/>
          </a:p>
        </p:txBody>
      </p:sp>
      <p:sp>
        <p:nvSpPr>
          <p:cNvPr id="24" name="result-strip"/>
          <p:cNvSpPr/>
          <p:nvPr/>
        </p:nvSpPr>
        <p:spPr>
          <a:xfrm>
            <a:off x="952500" y="5562600"/>
            <a:ext cx="10287000" cy="711200"/>
          </a:xfrm>
          <a:prstGeom prst="rect">
            <a:avLst/>
          </a:prstGeom>
          <a:solidFill>
            <a:srgbClr val="273383">
              <a:alpha val="40000"/>
            </a:srgbClr>
          </a:solidFill>
          <a:ln>
            <a:noFill/>
          </a:ln>
        </p:spPr>
      </p:sp>
      <p:sp>
        <p:nvSpPr>
          <p:cNvPr id="25" name="result-bar"/>
          <p:cNvSpPr/>
          <p:nvPr/>
        </p:nvSpPr>
        <p:spPr>
          <a:xfrm>
            <a:off x="952500" y="5562600"/>
            <a:ext cx="38100" cy="711200"/>
          </a:xfrm>
          <a:prstGeom prst="rect">
            <a:avLst/>
          </a:prstGeom>
          <a:solidFill>
            <a:srgbClr val="AEFF82"/>
          </a:solidFill>
          <a:ln>
            <a:noFill/>
          </a:ln>
        </p:spPr>
      </p:sp>
      <p:sp>
        <p:nvSpPr>
          <p:cNvPr id="26" name="result-label"/>
          <p:cNvSpPr txBox="1"/>
          <p:nvPr/>
        </p:nvSpPr>
        <p:spPr>
          <a:xfrm>
            <a:off x="1206500" y="56642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b="1" noProof="1">
                <a:solidFill>
                  <a:srgbClr val="9CA3AF"/>
                </a:solidFill>
                <a:latin typeface="Poppins"/>
                <a:ea typeface="Poppins"/>
              </a:rPr>
              <a:t>FINAL VALIDATION RESULTS</a:t>
            </a:r>
            <a:endParaRPr lang="en-US" sz="900" noProof="1"/>
          </a:p>
        </p:txBody>
      </p:sp>
      <p:sp>
        <p:nvSpPr>
          <p:cNvPr id="27" name="result-value"/>
          <p:cNvSpPr txBox="1"/>
          <p:nvPr/>
        </p:nvSpPr>
        <p:spPr>
          <a:xfrm>
            <a:off x="1206500" y="5842000"/>
            <a:ext cx="9779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AEFF82"/>
                </a:solidFill>
                <a:latin typeface="Poppins"/>
                <a:ea typeface="Poppins"/>
              </a:rPr>
              <a:t>PSNR 24.7450 dB</a:t>
            </a:r>
            <a:r>
              <a:rPr lang="en-US" sz="1200" noProof="1">
                <a:solidFill>
                  <a:srgbClr val="D1D5DB"/>
                </a:solidFill>
                <a:latin typeface="Poppins"/>
                <a:ea typeface="Poppins"/>
              </a:rPr>
              <a:t>   |   </a:t>
            </a:r>
            <a:r>
              <a:rPr lang="en-US" sz="1500" b="1" noProof="1">
                <a:solidFill>
                  <a:srgbClr val="AEFF82"/>
                </a:solidFill>
                <a:latin typeface="Poppins"/>
                <a:ea typeface="Poppins"/>
              </a:rPr>
              <a:t>SSIM 0.6971</a:t>
            </a:r>
            <a:r>
              <a:rPr lang="en-US" sz="1200" noProof="1">
                <a:solidFill>
                  <a:srgbClr val="D1D5DB"/>
                </a:solidFill>
                <a:latin typeface="Poppins"/>
                <a:ea typeface="Poppins"/>
              </a:rPr>
              <a:t>   |   </a:t>
            </a:r>
            <a:r>
              <a:rPr lang="en-US" sz="1500" b="1" noProof="1">
                <a:solidFill>
                  <a:srgbClr val="AEFF82"/>
                </a:solidFill>
                <a:latin typeface="Poppins"/>
                <a:ea typeface="Poppins"/>
              </a:rPr>
              <a:t>LPIPS 0.3760</a:t>
            </a:r>
            <a:r>
              <a:rPr lang="en-US" sz="1100" noProof="1">
                <a:solidFill>
                  <a:srgbClr val="9CA3AF"/>
                </a:solidFill>
                <a:latin typeface="Poppins"/>
                <a:ea typeface="Poppins"/>
              </a:rPr>
              <a:t>    (320 val images, epoch 246)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title-bar"/>
          <p:cNvSpPr/>
          <p:nvPr/>
        </p:nvSpPr>
        <p:spPr>
          <a:xfrm>
            <a:off x="571500" y="1333500"/>
            <a:ext cx="76200" cy="41021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38200" y="1295400"/>
            <a:ext cx="10515600" cy="467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FFFFF"/>
                </a:solidFill>
                <a:latin typeface="Poppins"/>
                <a:ea typeface="Poppins"/>
              </a:rPr>
              <a:t>Problem Understanding</a:t>
            </a:r>
            <a:r>
              <a:rPr lang="en-US" sz="2300" b="1" noProof="1">
                <a:solidFill>
                  <a:srgbClr val="88E555"/>
                </a:solidFill>
                <a:latin typeface="Poppins"/>
                <a:ea typeface="Poppins"/>
              </a:rPr>
              <a:t> — The Restoration Task</a:t>
            </a:r>
            <a:endParaRPr lang="en-US" sz="2300" noProof="1"/>
          </a:p>
        </p:txBody>
      </p:sp>
      <p:sp>
        <p:nvSpPr>
          <p:cNvPr id="7" name="card"/>
          <p:cNvSpPr/>
          <p:nvPr/>
        </p:nvSpPr>
        <p:spPr>
          <a:xfrm>
            <a:off x="571500" y="2021840"/>
            <a:ext cx="11049000" cy="4552950"/>
          </a:xfrm>
          <a:prstGeom prst="roundRect">
            <a:avLst>
              <a:gd name="adj" fmla="val 67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8" name="c-tl"/>
          <p:cNvSpPr/>
          <p:nvPr/>
        </p:nvSpPr>
        <p:spPr>
          <a:xfrm>
            <a:off x="5715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9" name="c-tr"/>
          <p:cNvSpPr/>
          <p:nvPr/>
        </p:nvSpPr>
        <p:spPr>
          <a:xfrm>
            <a:off x="114300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deg0"/>
          <p:cNvSpPr/>
          <p:nvPr/>
        </p:nvSpPr>
        <p:spPr>
          <a:xfrm>
            <a:off x="952500" y="2235200"/>
            <a:ext cx="3327400" cy="4318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12700">
            <a:solidFill>
              <a:srgbClr val="88E555">
                <a:alpha val="40000"/>
              </a:srgbClr>
            </a:solidFill>
          </a:ln>
        </p:spPr>
      </p:sp>
      <p:sp>
        <p:nvSpPr>
          <p:cNvPr id="13" name="deg0-t"/>
          <p:cNvSpPr txBox="1"/>
          <p:nvPr/>
        </p:nvSpPr>
        <p:spPr>
          <a:xfrm>
            <a:off x="952500" y="2260600"/>
            <a:ext cx="3327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Poppins"/>
                <a:ea typeface="Poppins"/>
              </a:rPr>
              <a:t>Speckle Noise</a:t>
            </a:r>
            <a:r>
              <a:rPr lang="en-US" sz="900" noProof="1">
                <a:solidFill>
                  <a:srgbClr val="9CA3AF"/>
                </a:solidFill>
                <a:latin typeface="Poppins"/>
                <a:ea typeface="Poppins"/>
              </a:rPr>
              <a:t>  (multiplicative)</a:t>
            </a:r>
            <a:endParaRPr lang="en-US" sz="1100" noProof="1"/>
          </a:p>
        </p:txBody>
      </p:sp>
      <p:sp>
        <p:nvSpPr>
          <p:cNvPr id="14" name="deg1"/>
          <p:cNvSpPr/>
          <p:nvPr/>
        </p:nvSpPr>
        <p:spPr>
          <a:xfrm>
            <a:off x="4432300" y="2235200"/>
            <a:ext cx="3327400" cy="4318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12700">
            <a:solidFill>
              <a:srgbClr val="88E555">
                <a:alpha val="40000"/>
              </a:srgbClr>
            </a:solidFill>
          </a:ln>
        </p:spPr>
      </p:sp>
      <p:sp>
        <p:nvSpPr>
          <p:cNvPr id="15" name="deg1-t"/>
          <p:cNvSpPr txBox="1"/>
          <p:nvPr/>
        </p:nvSpPr>
        <p:spPr>
          <a:xfrm>
            <a:off x="4432300" y="2260600"/>
            <a:ext cx="3327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Poppins"/>
                <a:ea typeface="Poppins"/>
              </a:rPr>
              <a:t>Gaussian Noise</a:t>
            </a:r>
            <a:r>
              <a:rPr lang="en-US" sz="900" noProof="1">
                <a:solidFill>
                  <a:srgbClr val="9CA3AF"/>
                </a:solidFill>
                <a:latin typeface="Poppins"/>
                <a:ea typeface="Poppins"/>
              </a:rPr>
              <a:t>  (additive)</a:t>
            </a:r>
            <a:endParaRPr lang="en-US" sz="1100" noProof="1"/>
          </a:p>
        </p:txBody>
      </p:sp>
      <p:sp>
        <p:nvSpPr>
          <p:cNvPr id="16" name="deg2"/>
          <p:cNvSpPr/>
          <p:nvPr/>
        </p:nvSpPr>
        <p:spPr>
          <a:xfrm>
            <a:off x="7912100" y="2235200"/>
            <a:ext cx="3327400" cy="4318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12700">
            <a:solidFill>
              <a:srgbClr val="88E555">
                <a:alpha val="40000"/>
              </a:srgbClr>
            </a:solidFill>
          </a:ln>
        </p:spPr>
      </p:sp>
      <p:sp>
        <p:nvSpPr>
          <p:cNvPr id="17" name="deg2-t"/>
          <p:cNvSpPr txBox="1"/>
          <p:nvPr/>
        </p:nvSpPr>
        <p:spPr>
          <a:xfrm>
            <a:off x="7912100" y="2260600"/>
            <a:ext cx="3327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Poppins"/>
                <a:ea typeface="Poppins"/>
              </a:rPr>
              <a:t>2× Downsampling</a:t>
            </a:r>
            <a:r>
              <a:rPr lang="en-US" sz="900" noProof="1">
                <a:solidFill>
                  <a:srgbClr val="9CA3AF"/>
                </a:solidFill>
                <a:latin typeface="Poppins"/>
                <a:ea typeface="Poppins"/>
              </a:rPr>
              <a:t>  (bicubic)</a:t>
            </a:r>
            <a:endParaRPr lang="en-US" sz="1100" noProof="1"/>
          </a:p>
        </p:txBody>
      </p:sp>
      <p:sp>
        <p:nvSpPr>
          <p:cNvPr id="18" name="unknown"/>
          <p:cNvSpPr txBox="1"/>
          <p:nvPr/>
        </p:nvSpPr>
        <p:spPr>
          <a:xfrm>
            <a:off x="952500" y="26924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Applied in UNKNOWN ORDER — the model never sees the order</a:t>
            </a:r>
            <a:endParaRPr lang="en-US" sz="1000" noProof="1"/>
          </a:p>
        </p:txBody>
      </p:sp>
      <p:sp>
        <p:nvSpPr>
          <p:cNvPr id="19" name="flow-in"/>
          <p:cNvSpPr/>
          <p:nvPr/>
        </p:nvSpPr>
        <p:spPr>
          <a:xfrm>
            <a:off x="952500" y="3048000"/>
            <a:ext cx="2413000" cy="8128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20" name="flow-in-t"/>
          <p:cNvSpPr txBox="1"/>
          <p:nvPr/>
        </p:nvSpPr>
        <p:spPr>
          <a:xfrm>
            <a:off x="1054100" y="3098800"/>
            <a:ext cx="2209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b="1" noProof="1">
                <a:solidFill>
                  <a:srgbClr val="9CA3AF"/>
                </a:solidFill>
                <a:latin typeface="Poppins"/>
                <a:ea typeface="Poppins"/>
              </a:rPr>
              <a:t>INPUT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100" b="1" noProof="1">
                <a:solidFill>
                  <a:srgbClr val="FFFFFF"/>
                </a:solidFill>
                <a:latin typeface="Poppins"/>
                <a:ea typeface="Poppins"/>
              </a:rPr>
              <a:t>NoisyLR .npy</a:t>
            </a:r>
            <a:endParaRPr lang="en-US" sz="1000" noProof="1"/>
          </a:p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D1D5DB"/>
                </a:solidFill>
                <a:latin typeface="Poppins"/>
                <a:ea typeface="Poppins"/>
              </a:rPr>
              <a:t>128×128 float32 · may exceed [0, 1] (intentional)</a:t>
            </a:r>
            <a:endParaRPr lang="en-US" sz="1000" noProof="1"/>
          </a:p>
        </p:txBody>
      </p:sp>
      <p:sp>
        <p:nvSpPr>
          <p:cNvPr id="21" name="flow-model"/>
          <p:cNvSpPr/>
          <p:nvPr/>
        </p:nvSpPr>
        <p:spPr>
          <a:xfrm>
            <a:off x="4216400" y="3048000"/>
            <a:ext cx="3759200" cy="8128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25400">
            <a:solidFill>
              <a:srgbClr val="88E555"/>
            </a:solidFill>
          </a:ln>
        </p:spPr>
      </p:sp>
      <p:sp>
        <p:nvSpPr>
          <p:cNvPr id="22" name="flow-model-t"/>
          <p:cNvSpPr txBox="1"/>
          <p:nvPr/>
        </p:nvSpPr>
        <p:spPr>
          <a:xfrm>
            <a:off x="4318000" y="30988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b="1" noProof="1">
                <a:solidFill>
                  <a:srgbClr val="9CA3AF"/>
                </a:solidFill>
                <a:latin typeface="Poppins"/>
                <a:ea typeface="Poppins"/>
              </a:rPr>
              <a:t>MODEL (BLIND)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200" b="1" noProof="1">
                <a:solidFill>
                  <a:srgbClr val="AEFF82"/>
                </a:solidFill>
                <a:latin typeface="Poppins"/>
                <a:ea typeface="Poppins"/>
              </a:rPr>
              <a:t>DegradationAwareNAFNet</a:t>
            </a:r>
            <a:endParaRPr lang="en-US" sz="1000" noProof="1"/>
          </a:p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D1D5DB"/>
                </a:solidFill>
                <a:latin typeface="Poppins"/>
                <a:ea typeface="Poppins"/>
              </a:rPr>
              <a:t>no fixed sequential denoising pipeline possible</a:t>
            </a:r>
            <a:endParaRPr lang="en-US" sz="1000" noProof="1"/>
          </a:p>
        </p:txBody>
      </p:sp>
      <p:sp>
        <p:nvSpPr>
          <p:cNvPr id="23" name="flow-out"/>
          <p:cNvSpPr/>
          <p:nvPr/>
        </p:nvSpPr>
        <p:spPr>
          <a:xfrm>
            <a:off x="8826500" y="3048000"/>
            <a:ext cx="2413000" cy="8128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24" name="flow-out-t"/>
          <p:cNvSpPr txBox="1"/>
          <p:nvPr/>
        </p:nvSpPr>
        <p:spPr>
          <a:xfrm>
            <a:off x="8928100" y="3098800"/>
            <a:ext cx="2209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b="1" noProof="1">
                <a:solidFill>
                  <a:srgbClr val="9CA3AF"/>
                </a:solidFill>
                <a:latin typeface="Poppins"/>
                <a:ea typeface="Poppins"/>
              </a:rPr>
              <a:t>OUTPUT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100" b="1" noProof="1">
                <a:solidFill>
                  <a:srgbClr val="FFFFFF"/>
                </a:solidFill>
                <a:latin typeface="Poppins"/>
                <a:ea typeface="Poppins"/>
              </a:rPr>
              <a:t>Restored .npy</a:t>
            </a:r>
            <a:endParaRPr lang="en-US" sz="1000" noProof="1"/>
          </a:p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D1D5DB"/>
                </a:solidFill>
                <a:latin typeface="Poppins"/>
                <a:ea typeface="Poppins"/>
              </a:rPr>
              <a:t>256×256 float32 · values in [0, 1]</a:t>
            </a:r>
            <a:endParaRPr lang="en-US" sz="1000" noProof="1"/>
          </a:p>
        </p:txBody>
      </p:sp>
      <p:sp>
        <p:nvSpPr>
          <p:cNvPr id="25" name="arr0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eyJ2aWV3Qm94IjpbNjEsOF0sInBvaW50cyI6IjAsNCA2MSw0In0</pptd:line>
              </p:ext>
            </p:extLst>
          </p:nvPr>
        </p:nvSpPr>
        <p:spPr>
          <a:xfrm>
            <a:off x="3403600" y="3403600"/>
            <a:ext cx="774700" cy="101600"/>
          </a:xfrm>
          <a:custGeom>
            <a:avLst/>
            <a:gdLst/>
            <a:ahLst/>
            <a:cxnLst/>
            <a:rect l="l" t="t" r="r" b="b"/>
            <a:pathLst>
              <a:path w="61" h="8">
                <a:moveTo>
                  <a:pt x="0" y="4"/>
                </a:moveTo>
                <a:lnTo>
                  <a:pt x="61" y="4"/>
                </a:lnTo>
              </a:path>
            </a:pathLst>
          </a:custGeom>
          <a:noFill/>
          <a:ln w="25400" cap="rnd">
            <a:solidFill>
              <a:srgbClr val="88E555"/>
            </a:solidFill>
            <a:round/>
            <a:tailEnd type="arrow"/>
          </a:ln>
        </p:spPr>
      </p:sp>
      <p:sp>
        <p:nvSpPr>
          <p:cNvPr id="26" name="arr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eyJ2aWV3Qm94IjpbNjEsOF0sInBvaW50cyI6IjAsNCA2MSw0In0</pptd:line>
              </p:ext>
            </p:extLst>
          </p:nvPr>
        </p:nvSpPr>
        <p:spPr>
          <a:xfrm>
            <a:off x="8013700" y="3403600"/>
            <a:ext cx="774700" cy="101600"/>
          </a:xfrm>
          <a:custGeom>
            <a:avLst/>
            <a:gdLst/>
            <a:ahLst/>
            <a:cxnLst/>
            <a:rect l="l" t="t" r="r" b="b"/>
            <a:pathLst>
              <a:path w="61" h="8">
                <a:moveTo>
                  <a:pt x="0" y="4"/>
                </a:moveTo>
                <a:lnTo>
                  <a:pt x="61" y="4"/>
                </a:lnTo>
              </a:path>
            </a:pathLst>
          </a:custGeom>
          <a:noFill/>
          <a:ln w="25400" cap="rnd">
            <a:solidFill>
              <a:srgbClr val="88E555"/>
            </a:solidFill>
            <a:round/>
            <a:tailEnd type="arrow"/>
          </a:ln>
        </p:spPr>
      </p:sp>
      <p:sp>
        <p:nvSpPr>
          <p:cNvPr id="27" name="divider2"/>
          <p:cNvSpPr/>
          <p:nvPr/>
        </p:nvSpPr>
        <p:spPr>
          <a:xfrm>
            <a:off x="952500" y="4089400"/>
            <a:ext cx="10287000" cy="889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28" name="keyc"/>
          <p:cNvSpPr/>
          <p:nvPr/>
        </p:nvSpPr>
        <p:spPr>
          <a:xfrm>
            <a:off x="952500" y="4267200"/>
            <a:ext cx="5054600" cy="19812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29" name="keyc-t"/>
          <p:cNvSpPr txBox="1"/>
          <p:nvPr/>
        </p:nvSpPr>
        <p:spPr>
          <a:xfrm>
            <a:off x="1181100" y="4419600"/>
            <a:ext cx="4597400" cy="170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KEY CONSTRAINTS</a:t>
            </a:r>
            <a:endParaRPr lang="en-US" sz="1100" noProof="1"/>
          </a:p>
          <a:p>
            <a:pPr marL="177800" algn="l">
              <a:lnSpc>
                <a:spcPct val="145000"/>
              </a:lnSpc>
              <a:spcBef>
                <a:spcPts val="600"/>
              </a:spcBef>
              <a:buChar char="•"/>
            </a:pP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Restore 128×128 NoisyLR → 256×256 clean GT</a:t>
            </a:r>
            <a:endParaRPr lang="en-US" sz="11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Three degradations in </a:t>
            </a:r>
            <a:r>
              <a:rPr lang="en-US" sz="1100" b="1" noProof="1">
                <a:solidFill>
                  <a:srgbClr val="E0E0E0"/>
                </a:solidFill>
                <a:latin typeface="Poppins"/>
                <a:ea typeface="Poppins"/>
              </a:rPr>
              <a:t>unknown order</a:t>
            </a: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 — solution must be blind</a:t>
            </a:r>
            <a:endParaRPr lang="en-US" sz="11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Must generalise to in-distribution </a:t>
            </a:r>
            <a:r>
              <a:rPr lang="en-US" sz="1100" b="1" noProof="1">
                <a:solidFill>
                  <a:srgbClr val="E0E0E0"/>
                </a:solidFill>
                <a:latin typeface="Poppins"/>
                <a:ea typeface="Poppins"/>
              </a:rPr>
              <a:t>and</a:t>
            </a: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 out-of-distribution content</a:t>
            </a:r>
            <a:endParaRPr lang="en-US" sz="1100" noProof="1"/>
          </a:p>
        </p:txBody>
      </p:sp>
      <p:sp>
        <p:nvSpPr>
          <p:cNvPr id="30" name="evalc"/>
          <p:cNvSpPr/>
          <p:nvPr/>
        </p:nvSpPr>
        <p:spPr>
          <a:xfrm>
            <a:off x="6184900" y="4267200"/>
            <a:ext cx="5054600" cy="19812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31" name="evalc-t"/>
          <p:cNvSpPr txBox="1"/>
          <p:nvPr/>
        </p:nvSpPr>
        <p:spPr>
          <a:xfrm>
            <a:off x="6413500" y="4419600"/>
            <a:ext cx="4597400" cy="170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EVALUATION</a:t>
            </a:r>
            <a:endParaRPr lang="en-US" sz="1100" noProof="1"/>
          </a:p>
          <a:p>
            <a:pPr marL="177800" algn="l">
              <a:lnSpc>
                <a:spcPct val="145000"/>
              </a:lnSpc>
              <a:spcBef>
                <a:spcPts val="600"/>
              </a:spcBef>
              <a:buChar char="•"/>
            </a:pPr>
            <a:r>
              <a:rPr lang="en-US" sz="1100" b="1" noProof="1">
                <a:solidFill>
                  <a:srgbClr val="AEFF82"/>
                </a:solidFill>
                <a:latin typeface="Poppins"/>
                <a:ea typeface="Poppins"/>
              </a:rPr>
              <a:t>PSNR + SSIM + LPIPS</a:t>
            </a: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 on hidden ground truth</a:t>
            </a:r>
            <a:endParaRPr lang="en-US" sz="11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100" b="1" noProof="1">
                <a:solidFill>
                  <a:srgbClr val="E0E0E0"/>
                </a:solidFill>
                <a:latin typeface="Poppins"/>
                <a:ea typeface="Poppins"/>
              </a:rPr>
              <a:t>H100 throughput</a:t>
            </a: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 — end-to-end runtime scored</a:t>
            </a:r>
            <a:endParaRPr lang="en-US" sz="11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Out-of-range input values are real signal — preserved, not clipped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title-bar"/>
          <p:cNvSpPr/>
          <p:nvPr/>
        </p:nvSpPr>
        <p:spPr>
          <a:xfrm>
            <a:off x="571500" y="1333500"/>
            <a:ext cx="76200" cy="41021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38200" y="1295400"/>
            <a:ext cx="10515600" cy="467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FFFFF"/>
                </a:solidFill>
                <a:latin typeface="Poppins"/>
                <a:ea typeface="Poppins"/>
              </a:rPr>
              <a:t>Dataset Analysis</a:t>
            </a:r>
            <a:r>
              <a:rPr lang="en-US" sz="2300" b="1" noProof="1">
                <a:solidFill>
                  <a:srgbClr val="88E555"/>
                </a:solidFill>
                <a:latin typeface="Poppins"/>
                <a:ea typeface="Poppins"/>
              </a:rPr>
              <a:t> — Degradation Observations</a:t>
            </a:r>
            <a:endParaRPr lang="en-US" sz="2300" noProof="1"/>
          </a:p>
        </p:txBody>
      </p:sp>
      <p:sp>
        <p:nvSpPr>
          <p:cNvPr id="7" name="card"/>
          <p:cNvSpPr/>
          <p:nvPr/>
        </p:nvSpPr>
        <p:spPr>
          <a:xfrm>
            <a:off x="571500" y="2021840"/>
            <a:ext cx="11049000" cy="4552950"/>
          </a:xfrm>
          <a:prstGeom prst="roundRect">
            <a:avLst>
              <a:gd name="adj" fmla="val 67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8" name="c-tl"/>
          <p:cNvSpPr/>
          <p:nvPr/>
        </p:nvSpPr>
        <p:spPr>
          <a:xfrm>
            <a:off x="5715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9" name="c-tr"/>
          <p:cNvSpPr/>
          <p:nvPr/>
        </p:nvSpPr>
        <p:spPr>
          <a:xfrm>
            <a:off x="114300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stat0"/>
          <p:cNvSpPr/>
          <p:nvPr/>
        </p:nvSpPr>
        <p:spPr>
          <a:xfrm>
            <a:off x="952500" y="2235200"/>
            <a:ext cx="2476500" cy="9398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3" name="stat0-t"/>
          <p:cNvSpPr txBox="1"/>
          <p:nvPr/>
        </p:nvSpPr>
        <p:spPr>
          <a:xfrm>
            <a:off x="1079500" y="2311400"/>
            <a:ext cx="2222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AEFF82"/>
                </a:solidFill>
                <a:latin typeface="Poppins"/>
                <a:ea typeface="Poppins"/>
              </a:rPr>
              <a:t>3200</a:t>
            </a:r>
            <a:endParaRPr lang="en-US" sz="10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850" noProof="1">
                <a:solidFill>
                  <a:srgbClr val="D1D5DB"/>
                </a:solidFill>
                <a:latin typeface="Poppins"/>
                <a:ea typeface="Poppins"/>
              </a:rPr>
              <a:t>paired GT + NoisyLR .npy files (KLA official)</a:t>
            </a:r>
            <a:endParaRPr lang="en-US" sz="1000" noProof="1"/>
          </a:p>
        </p:txBody>
      </p:sp>
      <p:sp>
        <p:nvSpPr>
          <p:cNvPr id="14" name="stat1"/>
          <p:cNvSpPr/>
          <p:nvPr/>
        </p:nvSpPr>
        <p:spPr>
          <a:xfrm>
            <a:off x="3556000" y="2235200"/>
            <a:ext cx="2476500" cy="9398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5" name="stat1-t"/>
          <p:cNvSpPr txBox="1"/>
          <p:nvPr/>
        </p:nvSpPr>
        <p:spPr>
          <a:xfrm>
            <a:off x="3683000" y="2311400"/>
            <a:ext cx="2222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AEFF82"/>
                </a:solidFill>
                <a:latin typeface="Poppins"/>
                <a:ea typeface="Poppins"/>
              </a:rPr>
              <a:t>2880 / 320</a:t>
            </a:r>
            <a:endParaRPr lang="en-US" sz="10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850" noProof="1">
                <a:solidFill>
                  <a:srgbClr val="D1D5DB"/>
                </a:solidFill>
                <a:latin typeface="Poppins"/>
                <a:ea typeface="Poppins"/>
              </a:rPr>
              <a:t>train / val — last 10% alphabetical, seed 42</a:t>
            </a:r>
            <a:endParaRPr lang="en-US" sz="1000" noProof="1"/>
          </a:p>
        </p:txBody>
      </p:sp>
      <p:sp>
        <p:nvSpPr>
          <p:cNvPr id="16" name="stat2"/>
          <p:cNvSpPr/>
          <p:nvPr/>
        </p:nvSpPr>
        <p:spPr>
          <a:xfrm>
            <a:off x="6159500" y="2235200"/>
            <a:ext cx="2476500" cy="9398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7" name="stat2-t"/>
          <p:cNvSpPr txBox="1"/>
          <p:nvPr/>
        </p:nvSpPr>
        <p:spPr>
          <a:xfrm>
            <a:off x="6286500" y="2311400"/>
            <a:ext cx="2222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AEFF82"/>
                </a:solidFill>
                <a:latin typeface="Poppins"/>
                <a:ea typeface="Poppins"/>
              </a:rPr>
              <a:t>256×256 · [0, 1]</a:t>
            </a:r>
            <a:endParaRPr lang="en-US" sz="10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850" noProof="1">
                <a:solidFill>
                  <a:srgbClr val="D1D5DB"/>
                </a:solidFill>
                <a:latin typeface="Poppins"/>
                <a:ea typeface="Poppins"/>
              </a:rPr>
              <a:t>GT — float32 clean target</a:t>
            </a:r>
            <a:endParaRPr lang="en-US" sz="1000" noProof="1"/>
          </a:p>
        </p:txBody>
      </p:sp>
      <p:sp>
        <p:nvSpPr>
          <p:cNvPr id="18" name="stat3"/>
          <p:cNvSpPr/>
          <p:nvPr/>
        </p:nvSpPr>
        <p:spPr>
          <a:xfrm>
            <a:off x="8763000" y="2235200"/>
            <a:ext cx="2476500" cy="9398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9" name="stat3-t"/>
          <p:cNvSpPr txBox="1"/>
          <p:nvPr/>
        </p:nvSpPr>
        <p:spPr>
          <a:xfrm>
            <a:off x="8890000" y="2311400"/>
            <a:ext cx="22225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AEFF82"/>
                </a:solidFill>
                <a:latin typeface="Poppins"/>
                <a:ea typeface="Poppins"/>
              </a:rPr>
              <a:t>128×128 · &gt;[0, 1]</a:t>
            </a:r>
            <a:endParaRPr lang="en-US" sz="10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850" noProof="1">
                <a:solidFill>
                  <a:srgbClr val="D1D5DB"/>
                </a:solidFill>
                <a:latin typeface="Poppins"/>
                <a:ea typeface="Poppins"/>
              </a:rPr>
              <a:t>NoisyLR — float32 degraded input</a:t>
            </a:r>
            <a:endParaRPr lang="en-US" sz="1000" noProof="1"/>
          </a:p>
        </p:txBody>
      </p:sp>
      <p:sp>
        <p:nvSpPr>
          <p:cNvPr id="20" name="insight"/>
          <p:cNvSpPr/>
          <p:nvPr/>
        </p:nvSpPr>
        <p:spPr>
          <a:xfrm>
            <a:off x="952500" y="3352800"/>
            <a:ext cx="10287000" cy="12954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12700">
            <a:solidFill>
              <a:srgbClr val="88E555"/>
            </a:solidFill>
          </a:ln>
        </p:spPr>
      </p:sp>
      <p:sp>
        <p:nvSpPr>
          <p:cNvPr id="21" name="insight-t"/>
          <p:cNvSpPr txBox="1"/>
          <p:nvPr/>
        </p:nvSpPr>
        <p:spPr>
          <a:xfrm>
            <a:off x="1181100" y="3505200"/>
            <a:ext cx="9829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KEY INSIGHT — VALUES OUTSIDE [0, 1] ARE SIGNAL</a:t>
            </a:r>
            <a:endParaRPr lang="en-US" sz="1100" noProof="1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Noise is added in float space before any clamping, so NoisyLR tails beyond [0, 1] carry real degradation information. </a:t>
            </a:r>
            <a:r>
              <a:rPr lang="en-US" sz="1100" b="1" noProof="1">
                <a:solidFill>
                  <a:srgbClr val="E0E0E0"/>
                </a:solidFill>
                <a:latin typeface="Poppins"/>
                <a:ea typeface="Poppins"/>
              </a:rPr>
              <a:t>Clipping before the model would destroy it</a:t>
            </a: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 — NoisyLR is therefore fed unclipped, and only the GT target is clamped to [0, 1].</a:t>
            </a:r>
            <a:endParaRPr lang="en-US" sz="1100" noProof="1"/>
          </a:p>
        </p:txBody>
      </p:sp>
      <p:sp>
        <p:nvSpPr>
          <p:cNvPr id="22" name="synth"/>
          <p:cNvSpPr/>
          <p:nvPr/>
        </p:nvSpPr>
        <p:spPr>
          <a:xfrm>
            <a:off x="952500" y="4826000"/>
            <a:ext cx="10287000" cy="14224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23" name="synth-t"/>
          <p:cNvSpPr txBox="1"/>
          <p:nvPr/>
        </p:nvSpPr>
        <p:spPr>
          <a:xfrm>
            <a:off x="1181100" y="4953000"/>
            <a:ext cx="98298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SYNTHETIC AUGMENTATION — GENERATED ON-THE-FLY</a:t>
            </a:r>
            <a:endParaRPr lang="en-US" sz="1100" noProof="1"/>
          </a:p>
          <a:p>
            <a:pPr marL="1778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New NoisyLR synthesised from GT every step with a </a:t>
            </a:r>
            <a:r>
              <a:rPr lang="en-US" sz="1100" b="1" noProof="1">
                <a:solidFill>
                  <a:srgbClr val="E0E0E0"/>
                </a:solidFill>
                <a:latin typeface="Poppins"/>
                <a:ea typeface="Poppins"/>
              </a:rPr>
              <a:t>random degradation order</a:t>
            </a: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 and random noise strengths — the model never sees the same pattern twice</a:t>
            </a:r>
            <a:endParaRPr lang="en-US" sz="1100" noProof="1"/>
          </a:p>
          <a:p>
            <a:pPr marL="177800" algn="l">
              <a:lnSpc>
                <a:spcPct val="145000"/>
              </a:lnSpc>
              <a:spcBef>
                <a:spcPts val="300"/>
              </a:spcBef>
              <a:buChar char="•"/>
            </a:pPr>
            <a:r>
              <a:rPr lang="en-US" sz="1100" b="1" noProof="1">
                <a:solidFill>
                  <a:srgbClr val="E0E0E0"/>
                </a:solidFill>
                <a:latin typeface="Poppins"/>
                <a:ea typeface="Poppins"/>
              </a:rPr>
              <a:t>50 / 50 mixing</a:t>
            </a: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 of real and synthetic pairs in every batch</a:t>
            </a:r>
            <a:endParaRPr lang="en-US" sz="1100" noProof="1"/>
          </a:p>
          <a:p>
            <a:pPr marL="177800" algn="l">
              <a:lnSpc>
                <a:spcPct val="145000"/>
              </a:lnSpc>
              <a:spcBef>
                <a:spcPts val="300"/>
              </a:spcBef>
              <a:buChar char="•"/>
            </a:pPr>
            <a:r>
              <a:rPr lang="en-US" sz="1100" noProof="1">
                <a:solidFill>
                  <a:srgbClr val="E0E0E0"/>
                </a:solidFill>
                <a:latin typeface="Poppins"/>
                <a:ea typeface="Poppins"/>
              </a:rPr>
              <a:t>Effective training pairs: </a:t>
            </a:r>
            <a:r>
              <a:rPr lang="en-US" sz="1100" b="1" noProof="1">
                <a:solidFill>
                  <a:srgbClr val="AEFF82"/>
                </a:solidFill>
                <a:latin typeface="Poppins"/>
                <a:ea typeface="Poppins"/>
              </a:rPr>
              <a:t>~5760 per epoch (2×)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title-bar"/>
          <p:cNvSpPr/>
          <p:nvPr/>
        </p:nvSpPr>
        <p:spPr>
          <a:xfrm>
            <a:off x="571500" y="1333500"/>
            <a:ext cx="76200" cy="41021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38200" y="1295400"/>
            <a:ext cx="10515600" cy="467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FFFFF"/>
                </a:solidFill>
                <a:latin typeface="Poppins"/>
                <a:ea typeface="Poppins"/>
              </a:rPr>
              <a:t>End-to-End Pipeline</a:t>
            </a:r>
            <a:r>
              <a:rPr lang="en-US" sz="2300" b="1" noProof="1">
                <a:solidFill>
                  <a:srgbClr val="88E555"/>
                </a:solidFill>
                <a:latin typeface="Poppins"/>
                <a:ea typeface="Poppins"/>
              </a:rPr>
              <a:t> — Three Interlocking Systems</a:t>
            </a:r>
            <a:endParaRPr lang="en-US" sz="2300" noProof="1"/>
          </a:p>
        </p:txBody>
      </p:sp>
      <p:sp>
        <p:nvSpPr>
          <p:cNvPr id="7" name="card"/>
          <p:cNvSpPr/>
          <p:nvPr/>
        </p:nvSpPr>
        <p:spPr>
          <a:xfrm>
            <a:off x="571500" y="2021840"/>
            <a:ext cx="11049000" cy="4552950"/>
          </a:xfrm>
          <a:prstGeom prst="roundRect">
            <a:avLst>
              <a:gd name="adj" fmla="val 67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8" name="c-tl"/>
          <p:cNvSpPr/>
          <p:nvPr/>
        </p:nvSpPr>
        <p:spPr>
          <a:xfrm>
            <a:off x="5715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9" name="c-tr"/>
          <p:cNvSpPr/>
          <p:nvPr/>
        </p:nvSpPr>
        <p:spPr>
          <a:xfrm>
            <a:off x="114300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blk0"/>
          <p:cNvSpPr/>
          <p:nvPr/>
        </p:nvSpPr>
        <p:spPr>
          <a:xfrm>
            <a:off x="4191000" y="2184400"/>
            <a:ext cx="3810000" cy="5080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25400">
            <a:solidFill>
              <a:srgbClr val="88E555"/>
            </a:solidFill>
          </a:ln>
        </p:spPr>
      </p:sp>
      <p:sp>
        <p:nvSpPr>
          <p:cNvPr id="13" name="blk0-t"/>
          <p:cNvSpPr txBox="1"/>
          <p:nvPr/>
        </p:nvSpPr>
        <p:spPr>
          <a:xfrm>
            <a:off x="4292600" y="21844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50" noProof="1">
                <a:solidFill>
                  <a:srgbClr val="FFFFFF"/>
                </a:solidFill>
                <a:latin typeface="Poppins"/>
                <a:ea typeface="Poppins"/>
              </a:rPr>
              <a:t>INPUT — NoisyLR 128×128 float32</a:t>
            </a:r>
            <a:endParaRPr lang="en-US" sz="1000" noProof="1"/>
          </a:p>
        </p:txBody>
      </p:sp>
      <p:sp>
        <p:nvSpPr>
          <p:cNvPr id="14" name="varr0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eyJ2aWV3Qm94IjpbMiw3XSwicG9pbnRzIjoiMSwwIDEsNyJ9</pptd:line>
              </p:ext>
            </p:extLst>
          </p:nvPr>
        </p:nvSpPr>
        <p:spPr>
          <a:xfrm>
            <a:off x="6083300" y="2692400"/>
            <a:ext cx="25400" cy="88900"/>
          </a:xfrm>
          <a:custGeom>
            <a:avLst/>
            <a:gdLst/>
            <a:ahLst/>
            <a:cxnLst/>
            <a:rect l="l" t="t" r="r" b="b"/>
            <a:pathLst>
              <a:path w="2" h="7">
                <a:moveTo>
                  <a:pt x="1" y="0"/>
                </a:moveTo>
                <a:lnTo>
                  <a:pt x="1" y="7"/>
                </a:lnTo>
              </a:path>
            </a:pathLst>
          </a:custGeom>
          <a:noFill/>
          <a:ln w="25400" cap="rnd">
            <a:solidFill>
              <a:srgbClr val="88E555"/>
            </a:solidFill>
            <a:round/>
            <a:tailEnd type="arrow"/>
          </a:ln>
        </p:spPr>
      </p:sp>
      <p:sp>
        <p:nvSpPr>
          <p:cNvPr id="15" name="blk1"/>
          <p:cNvSpPr/>
          <p:nvPr/>
        </p:nvSpPr>
        <p:spPr>
          <a:xfrm>
            <a:off x="4191000" y="2781300"/>
            <a:ext cx="3810000" cy="508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6" name="blk1-t"/>
          <p:cNvSpPr txBox="1"/>
          <p:nvPr/>
        </p:nvSpPr>
        <p:spPr>
          <a:xfrm>
            <a:off x="4292600" y="27813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50" noProof="1">
                <a:solidFill>
                  <a:srgbClr val="FFFFFF"/>
                </a:solidFill>
                <a:latin typeface="Poppins"/>
                <a:ea typeface="Poppins"/>
              </a:rPr>
              <a:t>Intro Conv — 1 → 64 ch</a:t>
            </a:r>
            <a:endParaRPr lang="en-US" sz="1000" noProof="1"/>
          </a:p>
        </p:txBody>
      </p:sp>
      <p:sp>
        <p:nvSpPr>
          <p:cNvPr id="17" name="varr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eyJ2aWV3Qm94IjpbMiw3XSwicG9pbnRzIjoiMSwwIDEsNyJ9</pptd:line>
              </p:ext>
            </p:extLst>
          </p:nvPr>
        </p:nvSpPr>
        <p:spPr>
          <a:xfrm>
            <a:off x="6083300" y="3289300"/>
            <a:ext cx="25400" cy="88900"/>
          </a:xfrm>
          <a:custGeom>
            <a:avLst/>
            <a:gdLst/>
            <a:ahLst/>
            <a:cxnLst/>
            <a:rect l="l" t="t" r="r" b="b"/>
            <a:pathLst>
              <a:path w="2" h="7">
                <a:moveTo>
                  <a:pt x="1" y="0"/>
                </a:moveTo>
                <a:lnTo>
                  <a:pt x="1" y="7"/>
                </a:lnTo>
              </a:path>
            </a:pathLst>
          </a:custGeom>
          <a:noFill/>
          <a:ln w="25400" cap="rnd">
            <a:solidFill>
              <a:srgbClr val="88E555"/>
            </a:solidFill>
            <a:round/>
            <a:tailEnd type="arrow"/>
          </a:ln>
        </p:spPr>
      </p:sp>
      <p:sp>
        <p:nvSpPr>
          <p:cNvPr id="18" name="blk2"/>
          <p:cNvSpPr/>
          <p:nvPr/>
        </p:nvSpPr>
        <p:spPr>
          <a:xfrm>
            <a:off x="4191000" y="3378200"/>
            <a:ext cx="3810000" cy="508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9" name="blk2-t"/>
          <p:cNvSpPr txBox="1"/>
          <p:nvPr/>
        </p:nvSpPr>
        <p:spPr>
          <a:xfrm>
            <a:off x="4292600" y="33782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50" noProof="1">
                <a:solidFill>
                  <a:srgbClr val="FFFFFF"/>
                </a:solidFill>
                <a:latin typeface="Poppins"/>
                <a:ea typeface="Poppins"/>
              </a:rPr>
              <a:t>Encoder ×4 — 64→128→256→512 ch · 128→64→32→16 px · FiLM in every NAFBlock</a:t>
            </a:r>
            <a:endParaRPr lang="en-US" sz="1000" noProof="1"/>
          </a:p>
        </p:txBody>
      </p:sp>
      <p:sp>
        <p:nvSpPr>
          <p:cNvPr id="20" name="varr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eyJ2aWV3Qm94IjpbMiw3XSwicG9pbnRzIjoiMSwwIDEsNyJ9</pptd:line>
              </p:ext>
            </p:extLst>
          </p:nvPr>
        </p:nvSpPr>
        <p:spPr>
          <a:xfrm>
            <a:off x="6083300" y="3886200"/>
            <a:ext cx="25400" cy="88900"/>
          </a:xfrm>
          <a:custGeom>
            <a:avLst/>
            <a:gdLst/>
            <a:ahLst/>
            <a:cxnLst/>
            <a:rect l="l" t="t" r="r" b="b"/>
            <a:pathLst>
              <a:path w="2" h="7">
                <a:moveTo>
                  <a:pt x="1" y="0"/>
                </a:moveTo>
                <a:lnTo>
                  <a:pt x="1" y="7"/>
                </a:lnTo>
              </a:path>
            </a:pathLst>
          </a:custGeom>
          <a:noFill/>
          <a:ln w="25400" cap="rnd">
            <a:solidFill>
              <a:srgbClr val="88E555"/>
            </a:solidFill>
            <a:round/>
            <a:tailEnd type="arrow"/>
          </a:ln>
        </p:spPr>
      </p:sp>
      <p:sp>
        <p:nvSpPr>
          <p:cNvPr id="21" name="blk3"/>
          <p:cNvSpPr/>
          <p:nvPr/>
        </p:nvSpPr>
        <p:spPr>
          <a:xfrm>
            <a:off x="4191000" y="3975100"/>
            <a:ext cx="3810000" cy="508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22" name="blk3-t"/>
          <p:cNvSpPr txBox="1"/>
          <p:nvPr/>
        </p:nvSpPr>
        <p:spPr>
          <a:xfrm>
            <a:off x="4292600" y="39751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50" noProof="1">
                <a:solidFill>
                  <a:srgbClr val="FFFFFF"/>
                </a:solidFill>
                <a:latin typeface="Poppins"/>
                <a:ea typeface="Poppins"/>
              </a:rPr>
              <a:t>Middle — 6 NAFBlocks @ 512 ch, 8×8 px</a:t>
            </a:r>
            <a:endParaRPr lang="en-US" sz="1000" noProof="1"/>
          </a:p>
        </p:txBody>
      </p:sp>
      <p:sp>
        <p:nvSpPr>
          <p:cNvPr id="23" name="varr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eyJ2aWV3Qm94IjpbMiw3XSwicG9pbnRzIjoiMSwwIDEsNyJ9</pptd:line>
              </p:ext>
            </p:extLst>
          </p:nvPr>
        </p:nvSpPr>
        <p:spPr>
          <a:xfrm>
            <a:off x="6083300" y="4483100"/>
            <a:ext cx="25400" cy="88900"/>
          </a:xfrm>
          <a:custGeom>
            <a:avLst/>
            <a:gdLst/>
            <a:ahLst/>
            <a:cxnLst/>
            <a:rect l="l" t="t" r="r" b="b"/>
            <a:pathLst>
              <a:path w="2" h="7">
                <a:moveTo>
                  <a:pt x="1" y="0"/>
                </a:moveTo>
                <a:lnTo>
                  <a:pt x="1" y="7"/>
                </a:lnTo>
              </a:path>
            </a:pathLst>
          </a:custGeom>
          <a:noFill/>
          <a:ln w="25400" cap="rnd">
            <a:solidFill>
              <a:srgbClr val="88E555"/>
            </a:solidFill>
            <a:round/>
            <a:tailEnd type="arrow"/>
          </a:ln>
        </p:spPr>
      </p:sp>
      <p:sp>
        <p:nvSpPr>
          <p:cNvPr id="24" name="blk4"/>
          <p:cNvSpPr/>
          <p:nvPr/>
        </p:nvSpPr>
        <p:spPr>
          <a:xfrm>
            <a:off x="4191000" y="4572000"/>
            <a:ext cx="3810000" cy="508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25" name="blk4-t"/>
          <p:cNvSpPr txBox="1"/>
          <p:nvPr/>
        </p:nvSpPr>
        <p:spPr>
          <a:xfrm>
            <a:off x="4292600" y="45720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50" noProof="1">
                <a:solidFill>
                  <a:srgbClr val="FFFFFF"/>
                </a:solidFill>
                <a:latin typeface="Poppins"/>
                <a:ea typeface="Poppins"/>
              </a:rPr>
              <a:t>Decoder ×4 — 512→256→128→64 ch · 16→32→64→128 px</a:t>
            </a:r>
            <a:endParaRPr lang="en-US" sz="1000" noProof="1"/>
          </a:p>
        </p:txBody>
      </p:sp>
      <p:sp>
        <p:nvSpPr>
          <p:cNvPr id="26" name="varr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eyJ2aWV3Qm94IjpbMiw3XSwicG9pbnRzIjoiMSwwIDEsNyJ9</pptd:line>
              </p:ext>
            </p:extLst>
          </p:nvPr>
        </p:nvSpPr>
        <p:spPr>
          <a:xfrm>
            <a:off x="6083300" y="5080000"/>
            <a:ext cx="25400" cy="88900"/>
          </a:xfrm>
          <a:custGeom>
            <a:avLst/>
            <a:gdLst/>
            <a:ahLst/>
            <a:cxnLst/>
            <a:rect l="l" t="t" r="r" b="b"/>
            <a:pathLst>
              <a:path w="2" h="7">
                <a:moveTo>
                  <a:pt x="1" y="0"/>
                </a:moveTo>
                <a:lnTo>
                  <a:pt x="1" y="7"/>
                </a:lnTo>
              </a:path>
            </a:pathLst>
          </a:custGeom>
          <a:noFill/>
          <a:ln w="25400" cap="rnd">
            <a:solidFill>
              <a:srgbClr val="88E555"/>
            </a:solidFill>
            <a:round/>
            <a:tailEnd type="arrow"/>
          </a:ln>
        </p:spPr>
      </p:sp>
      <p:sp>
        <p:nvSpPr>
          <p:cNvPr id="27" name="blk5"/>
          <p:cNvSpPr/>
          <p:nvPr/>
        </p:nvSpPr>
        <p:spPr>
          <a:xfrm>
            <a:off x="4191000" y="5168900"/>
            <a:ext cx="3810000" cy="5080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25400">
            <a:solidFill>
              <a:srgbClr val="AEFF82"/>
            </a:solidFill>
          </a:ln>
        </p:spPr>
      </p:sp>
      <p:sp>
        <p:nvSpPr>
          <p:cNvPr id="28" name="blk5-t"/>
          <p:cNvSpPr txBox="1"/>
          <p:nvPr/>
        </p:nvSpPr>
        <p:spPr>
          <a:xfrm>
            <a:off x="4292600" y="51689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50" noProof="1">
                <a:solidFill>
                  <a:srgbClr val="FFFFFF"/>
                </a:solidFill>
                <a:latin typeface="Poppins"/>
                <a:ea typeface="Poppins"/>
              </a:rPr>
              <a:t>PixelShuffle SR Head — 64 ch @128×128 → 1 ch @256×256 (sub-pixel conv)</a:t>
            </a:r>
            <a:endParaRPr lang="en-US" sz="1000" noProof="1"/>
          </a:p>
        </p:txBody>
      </p:sp>
      <p:sp>
        <p:nvSpPr>
          <p:cNvPr id="29" name="varr5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eyJ2aWV3Qm94IjpbMiw3XSwicG9pbnRzIjoiMSwwIDEsNyJ9</pptd:line>
              </p:ext>
            </p:extLst>
          </p:nvPr>
        </p:nvSpPr>
        <p:spPr>
          <a:xfrm>
            <a:off x="6083300" y="5676900"/>
            <a:ext cx="25400" cy="88900"/>
          </a:xfrm>
          <a:custGeom>
            <a:avLst/>
            <a:gdLst/>
            <a:ahLst/>
            <a:cxnLst/>
            <a:rect l="l" t="t" r="r" b="b"/>
            <a:pathLst>
              <a:path w="2" h="7">
                <a:moveTo>
                  <a:pt x="1" y="0"/>
                </a:moveTo>
                <a:lnTo>
                  <a:pt x="1" y="7"/>
                </a:lnTo>
              </a:path>
            </a:pathLst>
          </a:custGeom>
          <a:noFill/>
          <a:ln w="25400" cap="rnd">
            <a:solidFill>
              <a:srgbClr val="88E555"/>
            </a:solidFill>
            <a:round/>
            <a:tailEnd type="arrow"/>
          </a:ln>
        </p:spPr>
      </p:sp>
      <p:sp>
        <p:nvSpPr>
          <p:cNvPr id="30" name="blk6"/>
          <p:cNvSpPr/>
          <p:nvPr/>
        </p:nvSpPr>
        <p:spPr>
          <a:xfrm>
            <a:off x="4191000" y="5765800"/>
            <a:ext cx="3810000" cy="5080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25400">
            <a:solidFill>
              <a:srgbClr val="88E555"/>
            </a:solidFill>
          </a:ln>
        </p:spPr>
      </p:sp>
      <p:sp>
        <p:nvSpPr>
          <p:cNvPr id="31" name="blk6-t"/>
          <p:cNvSpPr txBox="1"/>
          <p:nvPr/>
        </p:nvSpPr>
        <p:spPr>
          <a:xfrm>
            <a:off x="4292600" y="57658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950" noProof="1">
                <a:solidFill>
                  <a:srgbClr val="FFFFFF"/>
                </a:solidFill>
                <a:latin typeface="Poppins"/>
                <a:ea typeface="Poppins"/>
              </a:rPr>
              <a:t>OUTPUT — Restored 256×256 float32, [0, 1]</a:t>
            </a:r>
            <a:endParaRPr lang="en-US" sz="1000" noProof="1"/>
          </a:p>
        </p:txBody>
      </p:sp>
      <p:sp>
        <p:nvSpPr>
          <p:cNvPr id="32" name="deghead"/>
          <p:cNvSpPr/>
          <p:nvPr/>
        </p:nvSpPr>
        <p:spPr>
          <a:xfrm>
            <a:off x="952500" y="2730500"/>
            <a:ext cx="2794000" cy="1905000"/>
          </a:xfrm>
          <a:prstGeom prst="roundRect">
            <a:avLst>
              <a:gd name="adj" fmla="val 4277"/>
            </a:avLst>
          </a:prstGeom>
          <a:solidFill>
            <a:srgbClr val="3B2D66">
              <a:alpha val="34902"/>
            </a:srgbClr>
          </a:solidFill>
          <a:ln w="25400">
            <a:solidFill>
              <a:srgbClr val="8A84C7"/>
            </a:solidFill>
          </a:ln>
        </p:spPr>
      </p:sp>
      <p:sp>
        <p:nvSpPr>
          <p:cNvPr id="33" name="deghead-t"/>
          <p:cNvSpPr txBox="1"/>
          <p:nvPr/>
        </p:nvSpPr>
        <p:spPr>
          <a:xfrm>
            <a:off x="1104900" y="2857500"/>
            <a:ext cx="24892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C7C2EC"/>
                </a:solidFill>
                <a:latin typeface="Poppins"/>
                <a:ea typeface="Poppins"/>
              </a:rPr>
              <a:t>DEGRADATIONHEAD</a:t>
            </a:r>
            <a:endParaRPr lang="en-US" sz="1000" noProof="1"/>
          </a:p>
          <a:p>
            <a:pPr marL="165100" algn="l">
              <a:lnSpc>
                <a:spcPct val="140000"/>
              </a:lnSpc>
              <a:spcBef>
                <a:spcPts val="500"/>
              </a:spcBef>
              <a:buChar char="•"/>
            </a:pP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Lightweight CNN: 3 conv + GAP + 2 linear → 64-d embedding</a:t>
            </a:r>
            <a:endParaRPr lang="en-US" sz="1000" noProof="1"/>
          </a:p>
          <a:p>
            <a:pPr marL="165100" algn="l"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FiLM (γ, β) projections for 4 encoder scales</a:t>
            </a:r>
            <a:endParaRPr lang="en-US" sz="1000" noProof="1"/>
          </a:p>
          <a:p>
            <a:pPr marL="165100" algn="l"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Aux estimate: [speckle, gaussian, blur]</a:t>
            </a:r>
            <a:endParaRPr lang="en-US" sz="1000" noProof="1"/>
          </a:p>
        </p:txBody>
      </p:sp>
      <p:sp>
        <p:nvSpPr>
          <p:cNvPr id="34" name="film-arrow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eyJ2aWV3Qm94IjpbMzEsMjZdLCJwb2ludHMiOiIwLDEzIDMxLDEzIn0</pptd:line>
              </p:ext>
            </p:extLst>
          </p:nvPr>
        </p:nvSpPr>
        <p:spPr>
          <a:xfrm>
            <a:off x="3771900" y="3403600"/>
            <a:ext cx="393700" cy="330200"/>
          </a:xfrm>
          <a:custGeom>
            <a:avLst/>
            <a:gdLst/>
            <a:ahLst/>
            <a:cxnLst/>
            <a:rect l="l" t="t" r="r" b="b"/>
            <a:pathLst>
              <a:path w="31" h="26">
                <a:moveTo>
                  <a:pt x="0" y="13"/>
                </a:moveTo>
                <a:lnTo>
                  <a:pt x="31" y="13"/>
                </a:lnTo>
              </a:path>
            </a:pathLst>
          </a:custGeom>
          <a:noFill/>
          <a:ln w="25400" cap="rnd">
            <a:solidFill>
              <a:srgbClr val="8A84C7"/>
            </a:solidFill>
            <a:prstDash val="dash"/>
            <a:round/>
            <a:tailEnd type="arrow"/>
          </a:ln>
        </p:spPr>
      </p:sp>
      <p:sp>
        <p:nvSpPr>
          <p:cNvPr id="35" name="legend"/>
          <p:cNvSpPr/>
          <p:nvPr/>
        </p:nvSpPr>
        <p:spPr>
          <a:xfrm>
            <a:off x="952500" y="4889500"/>
            <a:ext cx="2794000" cy="13716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36" name="legend-t"/>
          <p:cNvSpPr txBox="1"/>
          <p:nvPr/>
        </p:nvSpPr>
        <p:spPr>
          <a:xfrm>
            <a:off x="1104900" y="5016500"/>
            <a:ext cx="2489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LEGEND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C7C2EC"/>
                </a:solidFill>
                <a:latin typeface="Poppins"/>
                <a:ea typeface="Poppins"/>
              </a:rPr>
              <a:t>■</a:t>
            </a: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 Degradation analysis (parallel)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5E9CF4"/>
                </a:solidFill>
                <a:latin typeface="Poppins"/>
                <a:ea typeface="Poppins"/>
              </a:rPr>
              <a:t>■</a:t>
            </a: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 NAFNet backbone (U-Net)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88E555"/>
                </a:solidFill>
                <a:latin typeface="Poppins"/>
                <a:ea typeface="Poppins"/>
              </a:rPr>
              <a:t>■</a:t>
            </a: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 SR head / input-output</a:t>
            </a:r>
            <a:endParaRPr lang="en-US" sz="1000" noProof="1"/>
          </a:p>
        </p:txBody>
      </p:sp>
      <p:sp>
        <p:nvSpPr>
          <p:cNvPr id="37" name="filmnote"/>
          <p:cNvSpPr/>
          <p:nvPr/>
        </p:nvSpPr>
        <p:spPr>
          <a:xfrm>
            <a:off x="8445500" y="2730500"/>
            <a:ext cx="2794000" cy="1905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38" name="filmnote-t"/>
          <p:cNvSpPr txBox="1"/>
          <p:nvPr/>
        </p:nvSpPr>
        <p:spPr>
          <a:xfrm>
            <a:off x="8597900" y="2857500"/>
            <a:ext cx="24892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FiLM CONDITIONING</a:t>
            </a:r>
            <a:endParaRPr lang="en-US" sz="1000" noProof="1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Per-input affine transform (γ, β) applied after norm1 in every encoder NAFBlock — features are modulated before processing.</a:t>
            </a:r>
            <a:endParaRPr lang="en-US" sz="1000" noProof="1"/>
          </a:p>
        </p:txBody>
      </p:sp>
      <p:sp>
        <p:nvSpPr>
          <p:cNvPr id="39" name="why"/>
          <p:cNvSpPr/>
          <p:nvPr/>
        </p:nvSpPr>
        <p:spPr>
          <a:xfrm>
            <a:off x="8445500" y="4889500"/>
            <a:ext cx="2794000" cy="13716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40" name="why-t"/>
          <p:cNvSpPr txBox="1"/>
          <p:nvPr/>
        </p:nvSpPr>
        <p:spPr>
          <a:xfrm>
            <a:off x="8597900" y="4991100"/>
            <a:ext cx="24892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WHY IT WORKS</a:t>
            </a:r>
            <a:endParaRPr lang="en-US" sz="1000" noProof="1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Same weights adapt to each input's degradation — no explicit order identification needed.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title-bar"/>
          <p:cNvSpPr/>
          <p:nvPr/>
        </p:nvSpPr>
        <p:spPr>
          <a:xfrm>
            <a:off x="571500" y="1333500"/>
            <a:ext cx="76200" cy="41021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38200" y="1295400"/>
            <a:ext cx="10515600" cy="467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FFFFF"/>
                </a:solidFill>
                <a:latin typeface="Poppins"/>
                <a:ea typeface="Poppins"/>
              </a:rPr>
              <a:t>Preprocessing &amp; Augmentation</a:t>
            </a:r>
            <a:r>
              <a:rPr lang="en-US" sz="2300" b="1" noProof="1">
                <a:solidFill>
                  <a:srgbClr val="88E555"/>
                </a:solidFill>
                <a:latin typeface="Poppins"/>
                <a:ea typeface="Poppins"/>
              </a:rPr>
              <a:t> — Three-Layer Data Strategy</a:t>
            </a:r>
            <a:endParaRPr lang="en-US" sz="2300" noProof="1"/>
          </a:p>
        </p:txBody>
      </p:sp>
      <p:sp>
        <p:nvSpPr>
          <p:cNvPr id="7" name="card"/>
          <p:cNvSpPr/>
          <p:nvPr/>
        </p:nvSpPr>
        <p:spPr>
          <a:xfrm>
            <a:off x="571500" y="2021840"/>
            <a:ext cx="11049000" cy="4552950"/>
          </a:xfrm>
          <a:prstGeom prst="roundRect">
            <a:avLst>
              <a:gd name="adj" fmla="val 67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8" name="c-tl"/>
          <p:cNvSpPr/>
          <p:nvPr/>
        </p:nvSpPr>
        <p:spPr>
          <a:xfrm>
            <a:off x="5715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9" name="c-tr"/>
          <p:cNvSpPr/>
          <p:nvPr/>
        </p:nvSpPr>
        <p:spPr>
          <a:xfrm>
            <a:off x="114300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c5-0"/>
          <p:cNvSpPr/>
          <p:nvPr/>
        </p:nvSpPr>
        <p:spPr>
          <a:xfrm>
            <a:off x="952500" y="2260600"/>
            <a:ext cx="3327400" cy="37084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3" name="c5-0-bar"/>
          <p:cNvSpPr/>
          <p:nvPr/>
        </p:nvSpPr>
        <p:spPr>
          <a:xfrm>
            <a:off x="952500" y="2260600"/>
            <a:ext cx="3327400" cy="5080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14" name="c5-0-t"/>
          <p:cNvSpPr txBox="1"/>
          <p:nvPr/>
        </p:nvSpPr>
        <p:spPr>
          <a:xfrm>
            <a:off x="1130300" y="2438400"/>
            <a:ext cx="2971800" cy="337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TRAINING PREPROCESSING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NoisyLR: NO clipping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— out-of-range values preserved as signal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GT: clamp to [0, 1]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Paired geometric aug: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H-flip, V-flip, 90° rotations applied identically to both</a:t>
            </a:r>
            <a:endParaRPr lang="en-US" sz="1000" noProof="1"/>
          </a:p>
        </p:txBody>
      </p:sp>
      <p:sp>
        <p:nvSpPr>
          <p:cNvPr id="15" name="c5-1"/>
          <p:cNvSpPr/>
          <p:nvPr/>
        </p:nvSpPr>
        <p:spPr>
          <a:xfrm>
            <a:off x="4432300" y="2260600"/>
            <a:ext cx="3327400" cy="37084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6" name="c5-1-bar"/>
          <p:cNvSpPr/>
          <p:nvPr/>
        </p:nvSpPr>
        <p:spPr>
          <a:xfrm>
            <a:off x="4432300" y="2260600"/>
            <a:ext cx="3327400" cy="5080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17" name="c5-1-t"/>
          <p:cNvSpPr txBox="1"/>
          <p:nvPr/>
        </p:nvSpPr>
        <p:spPr>
          <a:xfrm>
            <a:off x="4610100" y="2438400"/>
            <a:ext cx="2971800" cy="337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SYNTHETIC DEGRADATION PIPELINE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Random order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each step: bicubic downsample + speckle + Gaussian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Speckle α ~ U(0.05, 0.25), Gaussian σ ~ U(0.01, 0.15) per batch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Output </a:t>
            </a: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not clamped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— matches real NoisyLR behaviour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50/50 real–synthetic mix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→ ~5760 pairs/epoch</a:t>
            </a:r>
            <a:endParaRPr lang="en-US" sz="1000" noProof="1"/>
          </a:p>
        </p:txBody>
      </p:sp>
      <p:sp>
        <p:nvSpPr>
          <p:cNvPr id="18" name="c5-2"/>
          <p:cNvSpPr/>
          <p:nvPr/>
        </p:nvSpPr>
        <p:spPr>
          <a:xfrm>
            <a:off x="7912100" y="2260600"/>
            <a:ext cx="3327400" cy="37084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9" name="c5-2-bar"/>
          <p:cNvSpPr/>
          <p:nvPr/>
        </p:nvSpPr>
        <p:spPr>
          <a:xfrm>
            <a:off x="7912100" y="2260600"/>
            <a:ext cx="3327400" cy="5080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20" name="c5-2-t"/>
          <p:cNvSpPr txBox="1"/>
          <p:nvPr/>
        </p:nvSpPr>
        <p:spPr>
          <a:xfrm>
            <a:off x="8089900" y="2438400"/>
            <a:ext cx="2971800" cy="337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TEST-TIME AUGMENTATION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8 passes: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4 rotations × 2 flips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Forward: flip → rotate; inverse: rotate⁻¹ → flip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Average 8 predictions in float32 before clamping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+0.3–0.5 dB PSNR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, opt-in via </a:t>
            </a:r>
            <a:r>
              <a:rPr lang="en-US" sz="1000" noProof="1">
                <a:solidFill>
                  <a:srgbClr val="E0E0E0"/>
                </a:solidFill>
                <a:latin typeface="ui-monospace"/>
                <a:ea typeface="ui-monospace"/>
              </a:rPr>
              <a:t>--tta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(off for throughput runs)</a:t>
            </a:r>
            <a:endParaRPr lang="en-US" sz="1000" noProof="1"/>
          </a:p>
        </p:txBody>
      </p:sp>
      <p:sp>
        <p:nvSpPr>
          <p:cNvPr id="21" name="c5-bottom"/>
          <p:cNvSpPr txBox="1"/>
          <p:nvPr/>
        </p:nvSpPr>
        <p:spPr>
          <a:xfrm>
            <a:off x="952500" y="6096000"/>
            <a:ext cx="1028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Synthetic augmentation doubles effective data — TTA gives a free +0.3–0.5 dB at inference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title-bar"/>
          <p:cNvSpPr/>
          <p:nvPr/>
        </p:nvSpPr>
        <p:spPr>
          <a:xfrm>
            <a:off x="571500" y="1333500"/>
            <a:ext cx="76200" cy="41021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647699" y="1295400"/>
            <a:ext cx="11920636" cy="467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FFFFFF"/>
                </a:solidFill>
                <a:latin typeface="Poppins"/>
                <a:ea typeface="Poppins"/>
              </a:rPr>
              <a:t>Model Architecture</a:t>
            </a:r>
            <a:r>
              <a:rPr lang="en-US" sz="2000" b="1" noProof="1">
                <a:solidFill>
                  <a:srgbClr val="88E555"/>
                </a:solidFill>
                <a:latin typeface="Poppins"/>
                <a:ea typeface="Poppins"/>
              </a:rPr>
              <a:t> — 32.4M Params, FiLM Solves the Unknown-Order Problem</a:t>
            </a:r>
            <a:endParaRPr lang="en-US" sz="2000" noProof="1"/>
          </a:p>
        </p:txBody>
      </p:sp>
      <p:sp>
        <p:nvSpPr>
          <p:cNvPr id="7" name="card"/>
          <p:cNvSpPr/>
          <p:nvPr/>
        </p:nvSpPr>
        <p:spPr>
          <a:xfrm>
            <a:off x="571500" y="2021840"/>
            <a:ext cx="11049000" cy="4552950"/>
          </a:xfrm>
          <a:prstGeom prst="roundRect">
            <a:avLst>
              <a:gd name="adj" fmla="val 67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8" name="c-tl"/>
          <p:cNvSpPr/>
          <p:nvPr/>
        </p:nvSpPr>
        <p:spPr>
          <a:xfrm>
            <a:off x="5715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9" name="c-tr"/>
          <p:cNvSpPr/>
          <p:nvPr/>
        </p:nvSpPr>
        <p:spPr>
          <a:xfrm>
            <a:off x="114300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c6-0"/>
          <p:cNvSpPr/>
          <p:nvPr/>
        </p:nvSpPr>
        <p:spPr>
          <a:xfrm>
            <a:off x="952500" y="2260600"/>
            <a:ext cx="3327400" cy="3098800"/>
          </a:xfrm>
          <a:prstGeom prst="roundRect">
            <a:avLst>
              <a:gd name="adj" fmla="val 4277"/>
            </a:avLst>
          </a:prstGeom>
          <a:solidFill>
            <a:srgbClr val="3B2D66">
              <a:alpha val="34902"/>
            </a:srgbClr>
          </a:solidFill>
          <a:ln w="25400">
            <a:solidFill>
              <a:srgbClr val="8A84C7"/>
            </a:solidFill>
          </a:ln>
        </p:spPr>
      </p:sp>
      <p:sp>
        <p:nvSpPr>
          <p:cNvPr id="13" name="c6-0-t"/>
          <p:cNvSpPr txBox="1"/>
          <p:nvPr/>
        </p:nvSpPr>
        <p:spPr>
          <a:xfrm>
            <a:off x="1130300" y="2413000"/>
            <a:ext cx="2971800" cy="284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C7C2EC"/>
                </a:solidFill>
                <a:latin typeface="Poppins"/>
                <a:ea typeface="Poppins"/>
              </a:rPr>
              <a:t>DEGRADATIONHEAD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700"/>
              </a:spcBef>
            </a:pP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3 conv + GlobalAvgPool + 2 linear → </a:t>
            </a: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64-d embedding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4 FiLM projection pairs (γ, β) for encoder scales 64 / 128 / 256 / 512 ch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Auxiliary degradation estimate: [speckle, gaussian, blur] ∈ [0, 1]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Init γ = 1.0 (identity), β = 0.0 → stable convergence</a:t>
            </a:r>
            <a:endParaRPr lang="en-US" sz="1000" noProof="1"/>
          </a:p>
        </p:txBody>
      </p:sp>
      <p:sp>
        <p:nvSpPr>
          <p:cNvPr id="14" name="c6-1"/>
          <p:cNvSpPr/>
          <p:nvPr/>
        </p:nvSpPr>
        <p:spPr>
          <a:xfrm>
            <a:off x="4432300" y="2260600"/>
            <a:ext cx="3327400" cy="30988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5" name="c6-1-t"/>
          <p:cNvSpPr txBox="1"/>
          <p:nvPr/>
        </p:nvSpPr>
        <p:spPr>
          <a:xfrm>
            <a:off x="4610100" y="2413000"/>
            <a:ext cx="2971800" cy="284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5E9CF4"/>
                </a:solidFill>
                <a:latin typeface="Poppins"/>
                <a:ea typeface="Poppins"/>
              </a:rPr>
              <a:t>NAFNET BACKBONE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700"/>
              </a:spcBef>
            </a:pP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width=64 · enc [2,2,4,8] · dec [2,2,2,2] · middle=6 blocks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max_channels=512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— caps 4th downsample, avoids 1024-ch bottleneck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SimpleGate x = x₁·x₂ replaces all activations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LayerNorm on (B,H,W,C); FiLM after norm1, before first conv of each NAFBlock</a:t>
            </a:r>
            <a:endParaRPr lang="en-US" sz="1000" noProof="1"/>
          </a:p>
        </p:txBody>
      </p:sp>
      <p:sp>
        <p:nvSpPr>
          <p:cNvPr id="16" name="c6-2"/>
          <p:cNvSpPr/>
          <p:nvPr/>
        </p:nvSpPr>
        <p:spPr>
          <a:xfrm>
            <a:off x="7912100" y="2260600"/>
            <a:ext cx="3327400" cy="30988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25400">
            <a:solidFill>
              <a:srgbClr val="88E555"/>
            </a:solidFill>
          </a:ln>
        </p:spPr>
      </p:sp>
      <p:sp>
        <p:nvSpPr>
          <p:cNvPr id="17" name="c6-2-t"/>
          <p:cNvSpPr txBox="1"/>
          <p:nvPr/>
        </p:nvSpPr>
        <p:spPr>
          <a:xfrm>
            <a:off x="8089900" y="2413000"/>
            <a:ext cx="2971800" cy="284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88E555"/>
                </a:solidFill>
                <a:latin typeface="Poppins"/>
                <a:ea typeface="Poppins"/>
              </a:rPr>
              <a:t>PIXELSHUFFLE SR HEAD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700"/>
              </a:spcBef>
            </a:pP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Refinement block (SimpleGate) on decoder output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pixel_conv 64→4 ch, then </a:t>
            </a: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PixelShuffle(2)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: 128×128 → 256×256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Final conv 1→1 ch at 256×256</a:t>
            </a:r>
            <a:endParaRPr lang="en-US" sz="1000" noProof="1"/>
          </a:p>
          <a:p>
            <a:pPr marL="1651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Learned sub-pixel upsampling — sharper than interpolation</a:t>
            </a:r>
            <a:endParaRPr lang="en-US" sz="1000" noProof="1"/>
          </a:p>
        </p:txBody>
      </p:sp>
      <p:sp>
        <p:nvSpPr>
          <p:cNvPr id="18" name="c6-strip"/>
          <p:cNvSpPr/>
          <p:nvPr/>
        </p:nvSpPr>
        <p:spPr>
          <a:xfrm>
            <a:off x="952500" y="5537200"/>
            <a:ext cx="10287000" cy="711200"/>
          </a:xfrm>
          <a:prstGeom prst="rect">
            <a:avLst/>
          </a:prstGeom>
          <a:solidFill>
            <a:srgbClr val="273383">
              <a:alpha val="40000"/>
            </a:srgbClr>
          </a:solidFill>
          <a:ln>
            <a:noFill/>
          </a:ln>
        </p:spPr>
      </p:sp>
      <p:sp>
        <p:nvSpPr>
          <p:cNvPr id="19" name="c6-stripbar"/>
          <p:cNvSpPr/>
          <p:nvPr/>
        </p:nvSpPr>
        <p:spPr>
          <a:xfrm>
            <a:off x="952500" y="5537200"/>
            <a:ext cx="38100" cy="711200"/>
          </a:xfrm>
          <a:prstGeom prst="rect">
            <a:avLst/>
          </a:prstGeom>
          <a:solidFill>
            <a:srgbClr val="AEFF82"/>
          </a:solidFill>
          <a:ln>
            <a:noFill/>
          </a:ln>
        </p:spPr>
      </p:sp>
      <p:sp>
        <p:nvSpPr>
          <p:cNvPr id="20" name="c6-stats"/>
          <p:cNvSpPr txBox="1"/>
          <p:nvPr/>
        </p:nvSpPr>
        <p:spPr>
          <a:xfrm>
            <a:off x="1206500" y="5638800"/>
            <a:ext cx="977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b="1" noProof="1">
                <a:solidFill>
                  <a:srgbClr val="9CA3AF"/>
                </a:solidFill>
                <a:latin typeface="Poppins"/>
                <a:ea typeface="Poppins"/>
              </a:rPr>
              <a:t>MODEL BUDGET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400" b="1" noProof="1">
                <a:solidFill>
                  <a:srgbClr val="AEFF82"/>
                </a:solidFill>
                <a:latin typeface="Poppins"/>
                <a:ea typeface="Poppins"/>
              </a:rPr>
              <a:t>32.439M parameters</a:t>
            </a:r>
            <a:r>
              <a:rPr lang="en-US" sz="1100" noProof="1">
                <a:solidFill>
                  <a:srgbClr val="D1D5DB"/>
                </a:solidFill>
                <a:latin typeface="Poppins"/>
                <a:ea typeface="Poppins"/>
              </a:rPr>
              <a:t>    |    </a:t>
            </a:r>
            <a:r>
              <a:rPr lang="en-US" sz="1400" b="1" noProof="1">
                <a:solidFill>
                  <a:srgbClr val="AEFF82"/>
                </a:solidFill>
                <a:latin typeface="Poppins"/>
                <a:ea typeface="Poppins"/>
              </a:rPr>
              <a:t>5057 MB VRAM</a:t>
            </a:r>
            <a:r>
              <a:rPr lang="en-US" sz="1000" noProof="1">
                <a:solidFill>
                  <a:srgbClr val="D1D5DB"/>
                </a:solidFill>
                <a:latin typeface="Poppins"/>
                <a:ea typeface="Poppins"/>
              </a:rPr>
              <a:t>  at batch=16, FP16 with gradients (62% of 8 GB)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title-bar"/>
          <p:cNvSpPr/>
          <p:nvPr/>
        </p:nvSpPr>
        <p:spPr>
          <a:xfrm>
            <a:off x="571500" y="1333500"/>
            <a:ext cx="76200" cy="41021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38200" y="1295400"/>
            <a:ext cx="10515600" cy="467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FFFFF"/>
                </a:solidFill>
                <a:latin typeface="Poppins"/>
                <a:ea typeface="Poppins"/>
              </a:rPr>
              <a:t>Loss Functions &amp; Training</a:t>
            </a:r>
            <a:r>
              <a:rPr lang="en-US" sz="2300" b="1" noProof="1">
                <a:solidFill>
                  <a:srgbClr val="88E555"/>
                </a:solidFill>
                <a:latin typeface="Poppins"/>
                <a:ea typeface="Poppins"/>
              </a:rPr>
              <a:t> — FFT Loss Preserves Semiconductor Edges</a:t>
            </a:r>
            <a:endParaRPr lang="en-US" sz="2300" noProof="1"/>
          </a:p>
        </p:txBody>
      </p:sp>
      <p:sp>
        <p:nvSpPr>
          <p:cNvPr id="7" name="card"/>
          <p:cNvSpPr/>
          <p:nvPr/>
        </p:nvSpPr>
        <p:spPr>
          <a:xfrm>
            <a:off x="571500" y="2021840"/>
            <a:ext cx="11049000" cy="4552950"/>
          </a:xfrm>
          <a:prstGeom prst="roundRect">
            <a:avLst>
              <a:gd name="adj" fmla="val 67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8" name="c-tl"/>
          <p:cNvSpPr/>
          <p:nvPr/>
        </p:nvSpPr>
        <p:spPr>
          <a:xfrm>
            <a:off x="5715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9" name="c-tr"/>
          <p:cNvSpPr/>
          <p:nvPr/>
        </p:nvSpPr>
        <p:spPr>
          <a:xfrm>
            <a:off x="114300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c7-formula"/>
          <p:cNvSpPr txBox="1"/>
          <p:nvPr/>
        </p:nvSpPr>
        <p:spPr>
          <a:xfrm>
            <a:off x="952500" y="22098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FFFFFF"/>
                </a:solidFill>
                <a:latin typeface="Poppins"/>
                <a:ea typeface="Poppins"/>
              </a:rPr>
              <a:t>Composite Loss = </a:t>
            </a:r>
            <a:r>
              <a:rPr lang="en-US" sz="1300" b="1" noProof="1">
                <a:solidFill>
                  <a:srgbClr val="AEFF82"/>
                </a:solidFill>
                <a:latin typeface="Poppins"/>
                <a:ea typeface="Poppins"/>
              </a:rPr>
              <a:t>0.6 × Charbonnier + 0.2 × SSIM + 0.2 × FFT</a:t>
            </a:r>
            <a:endParaRPr lang="en-US" sz="1300" noProof="1"/>
          </a:p>
        </p:txBody>
      </p:sp>
      <p:graphicFrame>
        <p:nvGraphicFramePr>
          <p:cNvPr id="13" name="c7-table"/>
          <p:cNvGraphicFramePr>
            <a:graphicFrameLocks noGrp="1"/>
          </p:cNvGraphicFramePr>
          <p:nvPr/>
        </p:nvGraphicFramePr>
        <p:xfrm>
          <a:off x="952500" y="2616200"/>
          <a:ext cx="10287000" cy="1778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1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Component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Weight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Formula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Purpose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Charbonnier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0.6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E0E0E0"/>
                          </a:solidFill>
                          <a:latin typeface="ui-monospace"/>
                          <a:ea typeface="ui-monospace"/>
                        </a:rPr>
                        <a:t>mean(√((pred−gt)² + 0.001²))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Smooth L1 — robust to extreme NoisyLR outliers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FFT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0.2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E0E0E0"/>
                          </a:solidFill>
                          <a:latin typeface="ui-monospace"/>
                          <a:ea typeface="ui-monospace"/>
                        </a:rPr>
                        <a:t>L1(|FFT(pred)|, |FFT(gt)|)</a:t>
                      </a:r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, ortho norm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Preserves Manhattan-geometry horizontal / vertical frequency bands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SSIM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0.2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E0E0E0"/>
                          </a:solidFill>
                          <a:latin typeface="ui-monospace"/>
                          <a:ea typeface="ui-monospace"/>
                        </a:rPr>
                        <a:t>1 − SSIM(pred.clamp(0,1), gt)</a:t>
                      </a:r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, range 1.0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Luminance + contrast + structure simultaneously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c7-left"/>
          <p:cNvSpPr/>
          <p:nvPr/>
        </p:nvSpPr>
        <p:spPr>
          <a:xfrm>
            <a:off x="952500" y="4597400"/>
            <a:ext cx="5054600" cy="1651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5" name="c7-left-t"/>
          <p:cNvSpPr txBox="1"/>
          <p:nvPr/>
        </p:nvSpPr>
        <p:spPr>
          <a:xfrm>
            <a:off x="1181100" y="4724400"/>
            <a:ext cx="4597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OPTIMISER &amp; SCHEDULE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Adam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: lr 3×10⁻⁴, betas (0.9, 0.999), wd 1×10⁻⁴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CosineAnnealingWarmRestarts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: T₀=50, η_min=1×10⁻⁶ — restarts every 50 epochs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FP16 mixed precision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via torch.amp.autocast</a:t>
            </a:r>
            <a:endParaRPr lang="en-US" sz="1000" noProof="1"/>
          </a:p>
        </p:txBody>
      </p:sp>
      <p:sp>
        <p:nvSpPr>
          <p:cNvPr id="16" name="c7-right"/>
          <p:cNvSpPr/>
          <p:nvPr/>
        </p:nvSpPr>
        <p:spPr>
          <a:xfrm>
            <a:off x="6184900" y="4597400"/>
            <a:ext cx="5054600" cy="1651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7" name="c7-right-t"/>
          <p:cNvSpPr txBox="1"/>
          <p:nvPr/>
        </p:nvSpPr>
        <p:spPr>
          <a:xfrm>
            <a:off x="6413500" y="4724400"/>
            <a:ext cx="4597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STABILITY &amp; BUDGET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Gradient accumulation ×2 → </a:t>
            </a: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effective batch 32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Early stopping: patience 30 on val PSNR · grad clip max_norm 1.0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Training time: </a:t>
            </a: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~4 h on RTX 4060 Laptop GPU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title-bar"/>
          <p:cNvSpPr/>
          <p:nvPr/>
        </p:nvSpPr>
        <p:spPr>
          <a:xfrm>
            <a:off x="571500" y="1333500"/>
            <a:ext cx="76200" cy="41021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38200" y="1295400"/>
            <a:ext cx="10515600" cy="467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FFFFF"/>
                </a:solidFill>
                <a:latin typeface="Poppins"/>
                <a:ea typeface="Poppins"/>
              </a:rPr>
              <a:t>Experiment Tracking</a:t>
            </a:r>
            <a:r>
              <a:rPr lang="en-US" sz="2300" b="1" noProof="1">
                <a:solidFill>
                  <a:srgbClr val="88E555"/>
                </a:solidFill>
                <a:latin typeface="Poppins"/>
                <a:ea typeface="Poppins"/>
              </a:rPr>
              <a:t> — +1.59 dB Over the Bicubic Baseline</a:t>
            </a:r>
            <a:endParaRPr lang="en-US" sz="2300" noProof="1"/>
          </a:p>
        </p:txBody>
      </p:sp>
      <p:sp>
        <p:nvSpPr>
          <p:cNvPr id="7" name="card"/>
          <p:cNvSpPr/>
          <p:nvPr/>
        </p:nvSpPr>
        <p:spPr>
          <a:xfrm>
            <a:off x="571500" y="2021840"/>
            <a:ext cx="11049000" cy="4552950"/>
          </a:xfrm>
          <a:prstGeom prst="roundRect">
            <a:avLst>
              <a:gd name="adj" fmla="val 67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8" name="c-tl"/>
          <p:cNvSpPr/>
          <p:nvPr/>
        </p:nvSpPr>
        <p:spPr>
          <a:xfrm>
            <a:off x="5715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9" name="c-tr"/>
          <p:cNvSpPr/>
          <p:nvPr/>
        </p:nvSpPr>
        <p:spPr>
          <a:xfrm>
            <a:off x="114300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c8-l1"/>
          <p:cNvSpPr txBox="1"/>
          <p:nvPr/>
        </p:nvSpPr>
        <p:spPr>
          <a:xfrm>
            <a:off x="952500" y="2184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BASELINE COMPARISON — 320 VALIDATION IMAGES</a:t>
            </a:r>
            <a:endParaRPr lang="en-US" sz="1000" noProof="1"/>
          </a:p>
        </p:txBody>
      </p:sp>
      <p:graphicFrame>
        <p:nvGraphicFramePr>
          <p:cNvPr id="13" name="c8-t1"/>
          <p:cNvGraphicFramePr>
            <a:graphicFrameLocks noGrp="1"/>
          </p:cNvGraphicFramePr>
          <p:nvPr/>
        </p:nvGraphicFramePr>
        <p:xfrm>
          <a:off x="952500" y="2438400"/>
          <a:ext cx="10287000" cy="14732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Method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PSNR (dB)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SSIM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LPIPS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Bicubic upsampling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23.1535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0.5370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0.4276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DegradationAwareNAFNet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24.7450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0.6971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0.3760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AEFF82"/>
                          </a:solidFill>
                          <a:latin typeface="Poppins"/>
                          <a:ea typeface="Poppins"/>
                        </a:rPr>
                        <a:t>Improvement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AEFF82"/>
                          </a:solidFill>
                          <a:latin typeface="Poppins"/>
                          <a:ea typeface="Poppins"/>
                        </a:rPr>
                        <a:t>+1.5915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AEFF82"/>
                          </a:solidFill>
                          <a:latin typeface="Poppins"/>
                          <a:ea typeface="Poppins"/>
                        </a:rPr>
                        <a:t>+0.1601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AEFF82"/>
                          </a:solidFill>
                          <a:latin typeface="Poppins"/>
                          <a:ea typeface="Poppins"/>
                        </a:rPr>
                        <a:t>−0.0516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c8-l2"/>
          <p:cNvSpPr txBox="1"/>
          <p:nvPr/>
        </p:nvSpPr>
        <p:spPr>
          <a:xfrm>
            <a:off x="952500" y="408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EXPERIMENTS — ONE CHANGE AT A TIME, WANDB TRACKED</a:t>
            </a:r>
            <a:endParaRPr lang="en-US" sz="1000" noProof="1"/>
          </a:p>
        </p:txBody>
      </p:sp>
      <p:graphicFrame>
        <p:nvGraphicFramePr>
          <p:cNvPr id="15" name="c8-t2"/>
          <p:cNvGraphicFramePr>
            <a:graphicFrameLocks noGrp="1"/>
          </p:cNvGraphicFramePr>
          <p:nvPr/>
        </p:nvGraphicFramePr>
        <p:xfrm>
          <a:off x="952500" y="4343400"/>
          <a:ext cx="10287000" cy="1117600"/>
        </p:xfrm>
        <a:graphic>
          <a:graphicData uri="http://schemas.openxmlformats.org/drawingml/2006/table">
            <a:tbl>
              <a:tblPr/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7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808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Experiment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Config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Epochs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Val PSNR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Status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8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Baseline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Charb 0.6 + SSIM 0.2 + FFT 0.2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246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24.7450 dB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AEFF82"/>
                          </a:solidFill>
                          <a:latin typeface="Poppins"/>
                          <a:ea typeface="Poppins"/>
                        </a:rPr>
                        <a:t>FINAL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984"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Fix1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FFT weight 0.2 → 0.35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80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24.3163 dB (−0.43)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Reverted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c8-notes"/>
          <p:cNvSpPr txBox="1"/>
          <p:nvPr/>
        </p:nvSpPr>
        <p:spPr>
          <a:xfrm>
            <a:off x="952500" y="5613400"/>
            <a:ext cx="1028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7800"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Fix1 reverted: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insufficient epochs to converge at the higher FFT weight — original loss weights more stable</a:t>
            </a:r>
            <a:endParaRPr lang="en-US" sz="1000" noProof="1"/>
          </a:p>
          <a:p>
            <a:pPr marL="177800"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wandb runs: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</a:t>
            </a:r>
            <a:r>
              <a:rPr lang="en-US" sz="1000" noProof="1">
                <a:solidFill>
                  <a:srgbClr val="E0E0E0"/>
                </a:solidFill>
                <a:latin typeface="ui-monospace"/>
                <a:ea typeface="ui-monospace"/>
              </a:rPr>
              <a:t>vp58iu9o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(ep 1–200), </a:t>
            </a:r>
            <a:r>
              <a:rPr lang="en-US" sz="1000" noProof="1">
                <a:solidFill>
                  <a:srgbClr val="E0E0E0"/>
                </a:solidFill>
                <a:latin typeface="ui-monospace"/>
                <a:ea typeface="ui-monospace"/>
              </a:rPr>
              <a:t>kbwf67i7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(ep 201–246) · </a:t>
            </a: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seed 42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— all experiments reproducible</a:t>
            </a:r>
            <a:endParaRPr lang="en-US" sz="1000" noProof="1"/>
          </a:p>
          <a:p>
            <a:pPr marL="177800"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Model selection: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best val PSNR auto-saves </a:t>
            </a:r>
            <a:r>
              <a:rPr lang="en-US" sz="1000" noProof="1">
                <a:solidFill>
                  <a:srgbClr val="E0E0E0"/>
                </a:solidFill>
                <a:latin typeface="ui-monospace"/>
                <a:ea typeface="ui-monospace"/>
              </a:rPr>
              <a:t>best_model.pth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title-bar"/>
          <p:cNvSpPr/>
          <p:nvPr/>
        </p:nvSpPr>
        <p:spPr>
          <a:xfrm>
            <a:off x="571500" y="1333500"/>
            <a:ext cx="76200" cy="41021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38200" y="1295400"/>
            <a:ext cx="10515600" cy="467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FFFFF"/>
                </a:solidFill>
                <a:latin typeface="Poppins"/>
                <a:ea typeface="Poppins"/>
              </a:rPr>
              <a:t>Quantitative Results</a:t>
            </a:r>
            <a:r>
              <a:rPr lang="en-US" sz="2300" b="1" noProof="1">
                <a:solidFill>
                  <a:srgbClr val="88E555"/>
                </a:solidFill>
                <a:latin typeface="Poppins"/>
                <a:ea typeface="Poppins"/>
              </a:rPr>
              <a:t> — PSNR 24.7450 dB · SSIM 0.6971 · LPIPS 0.3760</a:t>
            </a:r>
            <a:endParaRPr lang="en-US" sz="2300" noProof="1"/>
          </a:p>
        </p:txBody>
      </p:sp>
      <p:sp>
        <p:nvSpPr>
          <p:cNvPr id="7" name="card"/>
          <p:cNvSpPr/>
          <p:nvPr/>
        </p:nvSpPr>
        <p:spPr>
          <a:xfrm>
            <a:off x="571500" y="2021840"/>
            <a:ext cx="11049000" cy="4552950"/>
          </a:xfrm>
          <a:prstGeom prst="roundRect">
            <a:avLst>
              <a:gd name="adj" fmla="val 67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8" name="c-tl"/>
          <p:cNvSpPr/>
          <p:nvPr/>
        </p:nvSpPr>
        <p:spPr>
          <a:xfrm>
            <a:off x="5715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9" name="c-tr"/>
          <p:cNvSpPr/>
          <p:nvPr/>
        </p:nvSpPr>
        <p:spPr>
          <a:xfrm>
            <a:off x="114300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r0"/>
          <p:cNvSpPr/>
          <p:nvPr/>
        </p:nvSpPr>
        <p:spPr>
          <a:xfrm>
            <a:off x="952500" y="2209800"/>
            <a:ext cx="3327400" cy="7112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3" name="r0-t"/>
          <p:cNvSpPr txBox="1"/>
          <p:nvPr/>
        </p:nvSpPr>
        <p:spPr>
          <a:xfrm>
            <a:off x="952500" y="2260600"/>
            <a:ext cx="3327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9CA3AF"/>
                </a:solidFill>
                <a:latin typeface="Poppins"/>
                <a:ea typeface="Poppins"/>
              </a:rPr>
              <a:t>PSNR</a:t>
            </a:r>
            <a:endParaRPr lang="en-US" sz="10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600" b="1" noProof="1">
                <a:solidFill>
                  <a:srgbClr val="AEFF82"/>
                </a:solidFill>
                <a:latin typeface="Poppins"/>
                <a:ea typeface="Poppins"/>
              </a:rPr>
              <a:t>24.7450 dB</a:t>
            </a:r>
            <a:endParaRPr lang="en-US" sz="1000" noProof="1"/>
          </a:p>
        </p:txBody>
      </p:sp>
      <p:sp>
        <p:nvSpPr>
          <p:cNvPr id="14" name="r1"/>
          <p:cNvSpPr/>
          <p:nvPr/>
        </p:nvSpPr>
        <p:spPr>
          <a:xfrm>
            <a:off x="4432300" y="2209800"/>
            <a:ext cx="3327400" cy="7112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5" name="r1-t"/>
          <p:cNvSpPr txBox="1"/>
          <p:nvPr/>
        </p:nvSpPr>
        <p:spPr>
          <a:xfrm>
            <a:off x="4432300" y="2260600"/>
            <a:ext cx="3327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9CA3AF"/>
                </a:solidFill>
                <a:latin typeface="Poppins"/>
                <a:ea typeface="Poppins"/>
              </a:rPr>
              <a:t>SSIM</a:t>
            </a:r>
            <a:endParaRPr lang="en-US" sz="10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600" b="1" noProof="1">
                <a:solidFill>
                  <a:srgbClr val="AEFF82"/>
                </a:solidFill>
                <a:latin typeface="Poppins"/>
                <a:ea typeface="Poppins"/>
              </a:rPr>
              <a:t>0.6971</a:t>
            </a:r>
            <a:endParaRPr lang="en-US" sz="1000" noProof="1"/>
          </a:p>
        </p:txBody>
      </p:sp>
      <p:sp>
        <p:nvSpPr>
          <p:cNvPr id="16" name="r2"/>
          <p:cNvSpPr/>
          <p:nvPr/>
        </p:nvSpPr>
        <p:spPr>
          <a:xfrm>
            <a:off x="7912100" y="2209800"/>
            <a:ext cx="3327400" cy="7112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7" name="r2-t"/>
          <p:cNvSpPr txBox="1"/>
          <p:nvPr/>
        </p:nvSpPr>
        <p:spPr>
          <a:xfrm>
            <a:off x="7912100" y="2260600"/>
            <a:ext cx="3327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9CA3AF"/>
                </a:solidFill>
                <a:latin typeface="Poppins"/>
                <a:ea typeface="Poppins"/>
              </a:rPr>
              <a:t>LPIPS</a:t>
            </a:r>
            <a:endParaRPr lang="en-US" sz="10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600" b="1" noProof="1">
                <a:solidFill>
                  <a:srgbClr val="AEFF82"/>
                </a:solidFill>
                <a:latin typeface="Poppins"/>
                <a:ea typeface="Poppins"/>
              </a:rPr>
              <a:t>0.3760</a:t>
            </a:r>
            <a:endParaRPr lang="en-US" sz="1000" noProof="1"/>
          </a:p>
        </p:txBody>
      </p:sp>
      <p:sp>
        <p:nvSpPr>
          <p:cNvPr id="18" name="r-sub"/>
          <p:cNvSpPr txBox="1"/>
          <p:nvPr/>
        </p:nvSpPr>
        <p:spPr>
          <a:xfrm>
            <a:off x="952500" y="29718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9CA3AF"/>
                </a:solidFill>
                <a:latin typeface="Poppins"/>
                <a:ea typeface="Poppins"/>
              </a:rPr>
              <a:t>320 held-out validation images · never used for gradient updates</a:t>
            </a:r>
            <a:endParaRPr lang="en-US" sz="900" noProof="1"/>
          </a:p>
        </p:txBody>
      </p:sp>
      <p:sp>
        <p:nvSpPr>
          <p:cNvPr id="19" name="c9-chartlabel"/>
          <p:cNvSpPr txBox="1"/>
          <p:nvPr/>
        </p:nvSpPr>
        <p:spPr>
          <a:xfrm>
            <a:off x="952500" y="3225800"/>
            <a:ext cx="596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TRAINING PROGRESSION — VAL PSNR VS EPOCH</a:t>
            </a:r>
            <a:endParaRPr lang="en-US" sz="1000" noProof="1"/>
          </a:p>
        </p:txBody>
      </p:sp>
      <p:graphicFrame>
        <p:nvGraphicFramePr>
          <p:cNvPr id="20" name="c9-chart"/>
          <p:cNvGraphicFramePr/>
          <p:nvPr>
            <p:extLst>
              <p:ext uri="{D42A27DB-BD31-4B8C-83A1-F6EECF244321}">
                <p14:modId xmlns:p14="http://schemas.microsoft.com/office/powerpoint/2010/main" val="95744063"/>
              </p:ext>
            </p:extLst>
          </p:nvPr>
        </p:nvGraphicFramePr>
        <p:xfrm>
          <a:off x="889000" y="3403600"/>
          <a:ext cx="6096000" cy="287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c9-obs"/>
          <p:cNvSpPr/>
          <p:nvPr/>
        </p:nvSpPr>
        <p:spPr>
          <a:xfrm>
            <a:off x="7239000" y="3225800"/>
            <a:ext cx="4000500" cy="3048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22" name="c9-obs-t"/>
          <p:cNvSpPr txBox="1"/>
          <p:nvPr/>
        </p:nvSpPr>
        <p:spPr>
          <a:xfrm>
            <a:off x="7442200" y="3378200"/>
            <a:ext cx="3594100" cy="276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KEY OBSERVATIONS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7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Basic SR mapping learned in the first 10 epochs: </a:t>
            </a: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18.96 → 23.50 dB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6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Convergence plateau ~epoch 50–60 as LR reaches η_min = 1×10⁻⁶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60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Warm restart at epoch 200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escaped the plateau → +0.10 dB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6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Best at </a:t>
            </a: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epoch 246, not 200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— the restart extended useful training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title-bar"/>
          <p:cNvSpPr/>
          <p:nvPr/>
        </p:nvSpPr>
        <p:spPr>
          <a:xfrm>
            <a:off x="571500" y="1333500"/>
            <a:ext cx="76200" cy="41021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38200" y="1295400"/>
            <a:ext cx="10515600" cy="467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FFFFF"/>
                </a:solidFill>
                <a:latin typeface="Poppins"/>
                <a:ea typeface="Poppins"/>
              </a:rPr>
              <a:t>Runtime &amp; Optimization</a:t>
            </a:r>
            <a:r>
              <a:rPr lang="en-US" sz="2300" b="1" noProof="1">
                <a:solidFill>
                  <a:srgbClr val="88E555"/>
                </a:solidFill>
                <a:latin typeface="Poppins"/>
                <a:ea typeface="Poppins"/>
              </a:rPr>
              <a:t> — 60.5 img/sec End-to-End on RTX 4060</a:t>
            </a:r>
            <a:endParaRPr lang="en-US" sz="2300" noProof="1"/>
          </a:p>
        </p:txBody>
      </p:sp>
      <p:sp>
        <p:nvSpPr>
          <p:cNvPr id="7" name="card"/>
          <p:cNvSpPr/>
          <p:nvPr/>
        </p:nvSpPr>
        <p:spPr>
          <a:xfrm>
            <a:off x="571500" y="2021840"/>
            <a:ext cx="11049000" cy="4552950"/>
          </a:xfrm>
          <a:prstGeom prst="roundRect">
            <a:avLst>
              <a:gd name="adj" fmla="val 67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8" name="c-tl"/>
          <p:cNvSpPr/>
          <p:nvPr/>
        </p:nvSpPr>
        <p:spPr>
          <a:xfrm>
            <a:off x="5715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9" name="c-tr"/>
          <p:cNvSpPr/>
          <p:nvPr/>
        </p:nvSpPr>
        <p:spPr>
          <a:xfrm>
            <a:off x="114300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c10-chartlabel"/>
          <p:cNvSpPr txBox="1"/>
          <p:nvPr/>
        </p:nvSpPr>
        <p:spPr>
          <a:xfrm>
            <a:off x="952500" y="2184400"/>
            <a:ext cx="596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RUNTIME BREAKDOWN — MS / IMAGE (BATCH 16, FP16)</a:t>
            </a:r>
            <a:endParaRPr lang="en-US" sz="1000" noProof="1"/>
          </a:p>
        </p:txBody>
      </p:sp>
      <p:graphicFrame>
        <p:nvGraphicFramePr>
          <p:cNvPr id="13" name="c10-chart"/>
          <p:cNvGraphicFramePr/>
          <p:nvPr/>
        </p:nvGraphicFramePr>
        <p:xfrm>
          <a:off x="889000" y="2387600"/>
          <a:ext cx="6032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c10-strip"/>
          <p:cNvSpPr/>
          <p:nvPr/>
        </p:nvSpPr>
        <p:spPr>
          <a:xfrm>
            <a:off x="952500" y="5588000"/>
            <a:ext cx="5969000" cy="685800"/>
          </a:xfrm>
          <a:prstGeom prst="rect">
            <a:avLst/>
          </a:prstGeom>
          <a:solidFill>
            <a:srgbClr val="273383">
              <a:alpha val="40000"/>
            </a:srgbClr>
          </a:solidFill>
          <a:ln>
            <a:noFill/>
          </a:ln>
        </p:spPr>
      </p:sp>
      <p:sp>
        <p:nvSpPr>
          <p:cNvPr id="15" name="c10-stripbar"/>
          <p:cNvSpPr/>
          <p:nvPr/>
        </p:nvSpPr>
        <p:spPr>
          <a:xfrm>
            <a:off x="952500" y="5588000"/>
            <a:ext cx="38100" cy="685800"/>
          </a:xfrm>
          <a:prstGeom prst="rect">
            <a:avLst/>
          </a:prstGeom>
          <a:solidFill>
            <a:srgbClr val="AEFF82"/>
          </a:solidFill>
          <a:ln>
            <a:noFill/>
          </a:ln>
        </p:spPr>
      </p:sp>
      <p:sp>
        <p:nvSpPr>
          <p:cNvPr id="16" name="c10-total"/>
          <p:cNvSpPr txBox="1"/>
          <p:nvPr/>
        </p:nvSpPr>
        <p:spPr>
          <a:xfrm>
            <a:off x="1181100" y="56769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b="1" noProof="1">
                <a:solidFill>
                  <a:srgbClr val="9CA3AF"/>
                </a:solidFill>
                <a:latin typeface="Poppins"/>
                <a:ea typeface="Poppins"/>
              </a:rPr>
              <a:t>TOTAL 16.53 ms / IMAGE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500" b="1" noProof="1">
                <a:solidFill>
                  <a:srgbClr val="AEFF82"/>
                </a:solidFill>
                <a:latin typeface="Poppins"/>
                <a:ea typeface="Poppins"/>
              </a:rPr>
              <a:t>60.5 img/sec</a:t>
            </a:r>
            <a:r>
              <a:rPr lang="en-US" sz="950" noProof="1">
                <a:solidFill>
                  <a:srgbClr val="D1D5DB"/>
                </a:solidFill>
                <a:latin typeface="Poppins"/>
                <a:ea typeface="Poppins"/>
              </a:rPr>
              <a:t>  RTX 4060 Laptop · disk 38.7% + model fwd 54.6% = 93% of runtime</a:t>
            </a:r>
            <a:endParaRPr lang="en-US" sz="1000" noProof="1"/>
          </a:p>
        </p:txBody>
      </p:sp>
      <p:sp>
        <p:nvSpPr>
          <p:cNvPr id="17" name="c10-opt"/>
          <p:cNvSpPr/>
          <p:nvPr/>
        </p:nvSpPr>
        <p:spPr>
          <a:xfrm>
            <a:off x="7175500" y="2184400"/>
            <a:ext cx="4064000" cy="22352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8" name="c10-opt-t"/>
          <p:cNvSpPr txBox="1"/>
          <p:nvPr/>
        </p:nvSpPr>
        <p:spPr>
          <a:xfrm>
            <a:off x="7378700" y="2311400"/>
            <a:ext cx="3657600" cy="200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OPTIMIZATIONS APPLIED</a:t>
            </a:r>
            <a:endParaRPr lang="en-US" sz="1000" noProof="1"/>
          </a:p>
          <a:p>
            <a:pPr marL="177800" algn="l">
              <a:lnSpc>
                <a:spcPct val="140000"/>
              </a:lnSpc>
              <a:spcBef>
                <a:spcPts val="600"/>
              </a:spcBef>
              <a:buChar char="•"/>
            </a:pP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FP16 autocast — ~30% speedup</a:t>
            </a:r>
            <a:endParaRPr lang="en-US" sz="1000" noProof="1"/>
          </a:p>
          <a:p>
            <a:pPr marL="177800" algn="l"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torch.compile (reduce-overhead) at inference startup</a:t>
            </a:r>
            <a:endParaRPr lang="en-US" sz="1000" noProof="1"/>
          </a:p>
          <a:p>
            <a:pPr marL="177800" algn="l"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cuDNN benchmark mode · pin_memory DataLoader</a:t>
            </a:r>
            <a:endParaRPr lang="en-US" sz="1000" noProof="1"/>
          </a:p>
          <a:p>
            <a:pPr marL="177800" algn="l"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TTA off by default — batch mode for throughput</a:t>
            </a:r>
            <a:endParaRPr lang="en-US" sz="1000" noProof="1"/>
          </a:p>
          <a:p>
            <a:pPr marL="177800" algn="l"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cuda.synchronize barriers for accurate timing (perf_counter)</a:t>
            </a:r>
            <a:endParaRPr lang="en-US" sz="1000" noProof="1"/>
          </a:p>
        </p:txBody>
      </p:sp>
      <p:sp>
        <p:nvSpPr>
          <p:cNvPr id="19" name="c10-h100"/>
          <p:cNvSpPr/>
          <p:nvPr/>
        </p:nvSpPr>
        <p:spPr>
          <a:xfrm>
            <a:off x="7175500" y="4572000"/>
            <a:ext cx="4064000" cy="8128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12700">
            <a:solidFill>
              <a:srgbClr val="88E555"/>
            </a:solidFill>
          </a:ln>
        </p:spPr>
      </p:sp>
      <p:sp>
        <p:nvSpPr>
          <p:cNvPr id="20" name="c10-h100-t"/>
          <p:cNvSpPr txBox="1"/>
          <p:nvPr/>
        </p:nvSpPr>
        <p:spPr>
          <a:xfrm>
            <a:off x="7378700" y="4660900"/>
            <a:ext cx="3657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H100 ESTIMATE — 150–250 img/sec</a:t>
            </a:r>
            <a:endParaRPr lang="en-US" sz="1000" noProof="1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Model fwd ~1.5–2.3 ms → total ~9–12 ms (H100 ≈ 4–6× faster FP16; assumes fast NVMe)</a:t>
            </a:r>
            <a:endParaRPr lang="en-US" sz="1000" noProof="1"/>
          </a:p>
        </p:txBody>
      </p:sp>
      <p:sp>
        <p:nvSpPr>
          <p:cNvPr id="21" name="c10-mem"/>
          <p:cNvSpPr/>
          <p:nvPr/>
        </p:nvSpPr>
        <p:spPr>
          <a:xfrm>
            <a:off x="7175500" y="5537200"/>
            <a:ext cx="4064000" cy="7366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22" name="c10-mem-t"/>
          <p:cNvSpPr txBox="1"/>
          <p:nvPr/>
        </p:nvSpPr>
        <p:spPr>
          <a:xfrm>
            <a:off x="7378700" y="5626100"/>
            <a:ext cx="3657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MEMORY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b="1" noProof="1">
                <a:solidFill>
                  <a:srgbClr val="AEFF82"/>
                </a:solidFill>
                <a:latin typeface="Poppins"/>
                <a:ea typeface="Poppins"/>
              </a:rPr>
              <a:t>5057 / 8192 MB VRAM</a:t>
            </a:r>
            <a:r>
              <a:rPr lang="en-US" sz="950" noProof="1">
                <a:solidFill>
                  <a:srgbClr val="D1D5DB"/>
                </a:solidFill>
                <a:latin typeface="Poppins"/>
                <a:ea typeface="Poppins"/>
              </a:rPr>
              <a:t>  batch 16 (62% utilisation)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title-bar"/>
          <p:cNvSpPr/>
          <p:nvPr/>
        </p:nvSpPr>
        <p:spPr>
          <a:xfrm>
            <a:off x="571500" y="1333500"/>
            <a:ext cx="76200" cy="41021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38200" y="1295400"/>
            <a:ext cx="10515600" cy="467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FFFFF"/>
                </a:solidFill>
                <a:latin typeface="Poppins"/>
                <a:ea typeface="Poppins"/>
              </a:rPr>
              <a:t>Visual Results &amp; Limitations</a:t>
            </a:r>
            <a:r>
              <a:rPr lang="en-US" sz="2300" b="1" noProof="1">
                <a:solidFill>
                  <a:srgbClr val="88E555"/>
                </a:solidFill>
                <a:latin typeface="Poppins"/>
                <a:ea typeface="Poppins"/>
              </a:rPr>
              <a:t> — Honest Failure Analysis</a:t>
            </a:r>
            <a:endParaRPr lang="en-US" sz="2300" noProof="1"/>
          </a:p>
        </p:txBody>
      </p:sp>
      <p:sp>
        <p:nvSpPr>
          <p:cNvPr id="7" name="card"/>
          <p:cNvSpPr/>
          <p:nvPr/>
        </p:nvSpPr>
        <p:spPr>
          <a:xfrm>
            <a:off x="571500" y="2021840"/>
            <a:ext cx="11049000" cy="4552950"/>
          </a:xfrm>
          <a:prstGeom prst="roundRect">
            <a:avLst>
              <a:gd name="adj" fmla="val 67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8" name="c-tl"/>
          <p:cNvSpPr/>
          <p:nvPr/>
        </p:nvSpPr>
        <p:spPr>
          <a:xfrm>
            <a:off x="5715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9" name="c-tr"/>
          <p:cNvSpPr/>
          <p:nvPr/>
        </p:nvSpPr>
        <p:spPr>
          <a:xfrm>
            <a:off x="114300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c11-ok"/>
          <p:cNvSpPr/>
          <p:nvPr/>
        </p:nvSpPr>
        <p:spPr>
          <a:xfrm>
            <a:off x="952500" y="2235200"/>
            <a:ext cx="5054600" cy="2413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25400">
            <a:solidFill>
              <a:srgbClr val="88E555"/>
            </a:solidFill>
          </a:ln>
        </p:spPr>
      </p:sp>
      <p:sp>
        <p:nvSpPr>
          <p:cNvPr id="13" name="c11-ok-t"/>
          <p:cNvSpPr txBox="1"/>
          <p:nvPr/>
        </p:nvSpPr>
        <p:spPr>
          <a:xfrm>
            <a:off x="1155700" y="2362200"/>
            <a:ext cx="46482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SUCCESS — IN-DISTRIBUTION SEMICONDUCTOR PATTERNS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lang="en-US" sz="1200" b="1" noProof="1">
                <a:solidFill>
                  <a:srgbClr val="FFFFFF"/>
                </a:solidFill>
                <a:latin typeface="Poppins"/>
                <a:ea typeface="Poppins"/>
              </a:rPr>
              <a:t>Sample 002880 — PSNR 32.13 dB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6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Sharp vertical structure recovered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Clean noise removal with correct 2× magnification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Strong edge preservation on Manhattan geometry</a:t>
            </a:r>
            <a:endParaRPr lang="en-US" sz="1000" noProof="1"/>
          </a:p>
        </p:txBody>
      </p:sp>
      <p:sp>
        <p:nvSpPr>
          <p:cNvPr id="14" name="c11-fail"/>
          <p:cNvSpPr/>
          <p:nvPr/>
        </p:nvSpPr>
        <p:spPr>
          <a:xfrm>
            <a:off x="6184900" y="2235200"/>
            <a:ext cx="5054600" cy="2413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25400">
            <a:solidFill>
              <a:srgbClr val="ED7D31"/>
            </a:solidFill>
          </a:ln>
        </p:spPr>
      </p:sp>
      <p:sp>
        <p:nvSpPr>
          <p:cNvPr id="15" name="c11-fail-t"/>
          <p:cNvSpPr txBox="1"/>
          <p:nvPr/>
        </p:nvSpPr>
        <p:spPr>
          <a:xfrm>
            <a:off x="6388100" y="2362200"/>
            <a:ext cx="46482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FFC000"/>
                </a:solidFill>
                <a:latin typeface="Poppins"/>
                <a:ea typeface="Poppins"/>
              </a:rPr>
              <a:t>FAILURE — OUT-OF-DISTRIBUTION ORGANIC CONTENT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lang="en-US" sz="1100" b="1" noProof="1">
                <a:solidFill>
                  <a:srgbClr val="FFFFFF"/>
                </a:solidFill>
                <a:latin typeface="Poppins"/>
                <a:ea typeface="Poppins"/>
              </a:rPr>
              <a:t>Sample 002881 — 28.93 dB</a:t>
            </a:r>
            <a:r>
              <a:rPr lang="en-US" sz="1000" noProof="1">
                <a:solidFill>
                  <a:srgbClr val="D1D5DB"/>
                </a:solidFill>
                <a:latin typeface="Poppins"/>
                <a:ea typeface="Poppins"/>
              </a:rPr>
              <a:t>  fine fibrous strands slightly blurred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FFFFFF"/>
                </a:solidFill>
                <a:latin typeface="Poppins"/>
                <a:ea typeface="Poppins"/>
              </a:rPr>
              <a:t>Sample 002882 — 28.27 dB</a:t>
            </a:r>
            <a:r>
              <a:rPr lang="en-US" sz="1000" noProof="1">
                <a:solidFill>
                  <a:srgbClr val="D1D5DB"/>
                </a:solidFill>
                <a:latin typeface="Poppins"/>
                <a:ea typeface="Poppins"/>
              </a:rPr>
              <a:t>  thin radiating lines softened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60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Root cause: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2880 training pairs → limited OOD diversity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Structure recovered correctly, but fine texture is smoothed</a:t>
            </a:r>
            <a:endParaRPr lang="en-US" sz="1000" noProof="1"/>
          </a:p>
        </p:txBody>
      </p:sp>
      <p:sp>
        <p:nvSpPr>
          <p:cNvPr id="16" name="c11-lim"/>
          <p:cNvSpPr/>
          <p:nvPr/>
        </p:nvSpPr>
        <p:spPr>
          <a:xfrm>
            <a:off x="952500" y="4826000"/>
            <a:ext cx="10287000" cy="14224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7" name="c11-lim-t"/>
          <p:cNvSpPr txBox="1"/>
          <p:nvPr/>
        </p:nvSpPr>
        <p:spPr>
          <a:xfrm>
            <a:off x="1181100" y="4953000"/>
            <a:ext cx="98298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HONEST LIMITATIONS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500"/>
              </a:spcBef>
              <a:buChar char="•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~4 dB PSNR gap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between in-distribution (32 dB) and OOD content (28 dB) — mitigation: BSD500 + DIV2K external data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Fix1 (FFT 0.35): marginal visual gain but −0.43 dB at 80 epochs — reverted for the deadline; needs 200+ epochs for a fair test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Very dark images (mean ≈ 0.06): correct output but lower absolute PSNR due to limited signal content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img"/>
          <p:cNvPicPr/>
          <p:nvPr/>
        </p:nvPicPr>
        <p:blipFill>
          <a:blip r:embed="rId2">
            <a:alphaModFix amt="12000"/>
          </a:blip>
          <a:srcRect l="12326" r="123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opbar"/>
          <p:cNvSpPr/>
          <p:nvPr/>
        </p:nvSpPr>
        <p:spPr>
          <a:xfrm>
            <a:off x="571500" y="266700"/>
            <a:ext cx="11049000" cy="857250"/>
          </a:xfrm>
          <a:prstGeom prst="roundRect">
            <a:avLst>
              <a:gd name="adj" fmla="val 9476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4" name="logos"/>
          <p:cNvPicPr/>
          <p:nvPr/>
        </p:nvPicPr>
        <p:blipFill>
          <a:blip r:embed="rId3"/>
          <a:stretch>
            <a:fillRect/>
          </a:stretch>
        </p:blipFill>
        <p:spPr>
          <a:xfrm>
            <a:off x="1513840" y="416560"/>
            <a:ext cx="9163050" cy="586740"/>
          </a:xfrm>
          <a:prstGeom prst="rect">
            <a:avLst/>
          </a:prstGeom>
          <a:ln>
            <a:noFill/>
          </a:ln>
        </p:spPr>
      </p:pic>
      <p:sp>
        <p:nvSpPr>
          <p:cNvPr id="5" name="title-bar"/>
          <p:cNvSpPr/>
          <p:nvPr/>
        </p:nvSpPr>
        <p:spPr>
          <a:xfrm>
            <a:off x="571500" y="1333500"/>
            <a:ext cx="76200" cy="410210"/>
          </a:xfrm>
          <a:prstGeom prst="rect">
            <a:avLst/>
          </a:prstGeom>
          <a:solidFill>
            <a:srgbClr val="88E555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38200" y="1295400"/>
            <a:ext cx="10515600" cy="467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FFFFF"/>
                </a:solidFill>
                <a:latin typeface="Poppins"/>
                <a:ea typeface="Poppins"/>
              </a:rPr>
              <a:t>Conclusion</a:t>
            </a:r>
            <a:r>
              <a:rPr lang="en-US" sz="2300" b="1" noProof="1">
                <a:solidFill>
                  <a:srgbClr val="88E555"/>
                </a:solidFill>
                <a:latin typeface="Poppins"/>
                <a:ea typeface="Poppins"/>
              </a:rPr>
              <a:t> — Reproducible Pipeline &amp; Full Disclosure</a:t>
            </a:r>
            <a:endParaRPr lang="en-US" sz="2300" noProof="1"/>
          </a:p>
        </p:txBody>
      </p:sp>
      <p:sp>
        <p:nvSpPr>
          <p:cNvPr id="7" name="card"/>
          <p:cNvSpPr/>
          <p:nvPr/>
        </p:nvSpPr>
        <p:spPr>
          <a:xfrm>
            <a:off x="571500" y="2021840"/>
            <a:ext cx="11049000" cy="4552950"/>
          </a:xfrm>
          <a:prstGeom prst="roundRect">
            <a:avLst>
              <a:gd name="adj" fmla="val 672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88E555">
                <a:alpha val="30196"/>
              </a:srgbClr>
            </a:solidFill>
          </a:ln>
        </p:spPr>
      </p:sp>
      <p:sp>
        <p:nvSpPr>
          <p:cNvPr id="8" name="c-tl"/>
          <p:cNvSpPr/>
          <p:nvPr/>
        </p:nvSpPr>
        <p:spPr>
          <a:xfrm>
            <a:off x="5715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9" name="c-tr"/>
          <p:cNvSpPr/>
          <p:nvPr/>
        </p:nvSpPr>
        <p:spPr>
          <a:xfrm>
            <a:off x="11430000" y="202184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0" name="c-bl"/>
          <p:cNvSpPr/>
          <p:nvPr/>
        </p:nvSpPr>
        <p:spPr>
          <a:xfrm>
            <a:off x="5715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1" name="c-br"/>
          <p:cNvSpPr/>
          <p:nvPr/>
        </p:nvSpPr>
        <p:spPr>
          <a:xfrm>
            <a:off x="11430000" y="6381750"/>
            <a:ext cx="190500" cy="190500"/>
          </a:xfrm>
          <a:prstGeom prst="rect">
            <a:avLst/>
          </a:prstGeom>
          <a:noFill/>
          <a:ln w="38100">
            <a:solidFill>
              <a:srgbClr val="88E555"/>
            </a:solidFill>
          </a:ln>
        </p:spPr>
      </p:sp>
      <p:sp>
        <p:nvSpPr>
          <p:cNvPr id="12" name="c12-contrib"/>
          <p:cNvSpPr/>
          <p:nvPr/>
        </p:nvSpPr>
        <p:spPr>
          <a:xfrm>
            <a:off x="952500" y="2209800"/>
            <a:ext cx="5461000" cy="32766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3" name="c12-contrib-t"/>
          <p:cNvSpPr txBox="1"/>
          <p:nvPr/>
        </p:nvSpPr>
        <p:spPr>
          <a:xfrm>
            <a:off x="1155700" y="2336800"/>
            <a:ext cx="5080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KEY CONTRIBUTIONS</a:t>
            </a:r>
            <a:endParaRPr lang="en-US" sz="1000" noProof="1"/>
          </a:p>
          <a:p>
            <a:pPr marL="203200" algn="l">
              <a:lnSpc>
                <a:spcPct val="145000"/>
              </a:lnSpc>
              <a:spcBef>
                <a:spcPts val="700"/>
              </a:spcBef>
              <a:buAutoNum type="arabicPeriod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FiLM-conditioned DegradationHead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— blind degradation handling without explicit order identification</a:t>
            </a:r>
            <a:endParaRPr lang="en-US" sz="1000" noProof="1"/>
          </a:p>
          <a:p>
            <a:pPr marL="203200" algn="l">
              <a:lnSpc>
                <a:spcPct val="145000"/>
              </a:lnSpc>
              <a:spcBef>
                <a:spcPts val="600"/>
              </a:spcBef>
              <a:buAutoNum type="arabicPeriod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Frequency-aware composite loss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— Charbonnier + FFT + SSIM: pixel fidelity, frequency content, structure</a:t>
            </a:r>
            <a:endParaRPr lang="en-US" sz="1000" noProof="1"/>
          </a:p>
          <a:p>
            <a:pPr marL="203200" algn="l">
              <a:lnSpc>
                <a:spcPct val="145000"/>
              </a:lnSpc>
              <a:spcBef>
                <a:spcPts val="600"/>
              </a:spcBef>
              <a:buAutoNum type="arabicPeriod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PixelShuffle SR head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— learned sub-pixel convolution for sharp 2× upsampling</a:t>
            </a:r>
            <a:endParaRPr lang="en-US" sz="1000" noProof="1"/>
          </a:p>
          <a:p>
            <a:pPr marL="203200" algn="l">
              <a:lnSpc>
                <a:spcPct val="145000"/>
              </a:lnSpc>
              <a:spcBef>
                <a:spcPts val="600"/>
              </a:spcBef>
              <a:buAutoNum type="arabicPeriod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Synthetic augmentation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— 2880 → ~5760 effective pairs per epoch</a:t>
            </a:r>
            <a:endParaRPr lang="en-US" sz="1000" noProof="1"/>
          </a:p>
          <a:p>
            <a:pPr marL="203200" algn="l">
              <a:lnSpc>
                <a:spcPct val="145000"/>
              </a:lnSpc>
              <a:spcBef>
                <a:spcPts val="600"/>
              </a:spcBef>
              <a:buAutoNum type="arabicPeriod"/>
            </a:pPr>
            <a:r>
              <a:rPr lang="en-US" sz="1000" b="1" noProof="1">
                <a:solidFill>
                  <a:srgbClr val="E0E0E0"/>
                </a:solidFill>
                <a:latin typeface="Poppins"/>
                <a:ea typeface="Poppins"/>
              </a:rPr>
              <a:t>Variable input size</a:t>
            </a: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 — 128→256 and 256→512 automatically</a:t>
            </a:r>
            <a:endParaRPr lang="en-US" sz="1000" noProof="1"/>
          </a:p>
        </p:txBody>
      </p:sp>
      <p:sp>
        <p:nvSpPr>
          <p:cNvPr id="14" name="c12-metrics"/>
          <p:cNvSpPr/>
          <p:nvPr/>
        </p:nvSpPr>
        <p:spPr>
          <a:xfrm>
            <a:off x="6604000" y="2209800"/>
            <a:ext cx="4635500" cy="1498600"/>
          </a:xfrm>
          <a:prstGeom prst="roundRect">
            <a:avLst>
              <a:gd name="adj" fmla="val 4277"/>
            </a:avLst>
          </a:prstGeom>
          <a:solidFill>
            <a:srgbClr val="273383">
              <a:alpha val="50196"/>
            </a:srgbClr>
          </a:solidFill>
          <a:ln w="12700">
            <a:solidFill>
              <a:srgbClr val="88E555"/>
            </a:solidFill>
          </a:ln>
        </p:spPr>
      </p:sp>
      <p:sp>
        <p:nvSpPr>
          <p:cNvPr id="15" name="c12-metrics-t"/>
          <p:cNvSpPr txBox="1"/>
          <p:nvPr/>
        </p:nvSpPr>
        <p:spPr>
          <a:xfrm>
            <a:off x="6807200" y="2311400"/>
            <a:ext cx="42291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AEFF82"/>
                </a:solidFill>
                <a:latin typeface="Poppins"/>
                <a:ea typeface="Poppins"/>
              </a:rPr>
              <a:t>FINAL METRICS</a:t>
            </a:r>
            <a:endParaRPr lang="en-US" sz="10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300" b="1" noProof="1">
                <a:solidFill>
                  <a:srgbClr val="AEFF82"/>
                </a:solidFill>
                <a:latin typeface="Poppins"/>
                <a:ea typeface="Poppins"/>
              </a:rPr>
              <a:t>PSNR 24.7450 dB · SSIM 0.6971 · LPIPS 0.3760</a:t>
            </a:r>
            <a:endParaRPr lang="en-US" sz="1000" noProof="1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950" b="1" noProof="1">
                <a:solidFill>
                  <a:srgbClr val="E0E0E0"/>
                </a:solidFill>
                <a:latin typeface="Poppins"/>
                <a:ea typeface="Poppins"/>
              </a:rPr>
              <a:t>Repo:</a:t>
            </a: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 </a:t>
            </a:r>
            <a:r>
              <a:rPr lang="en-US" sz="950" noProof="1">
                <a:solidFill>
                  <a:srgbClr val="E0E0E0"/>
                </a:solidFill>
                <a:latin typeface="ui-monospace"/>
                <a:ea typeface="Poppins"/>
              </a:rPr>
              <a:t>(</a:t>
            </a:r>
            <a:r>
              <a:rPr lang="en-US" sz="950" noProof="1">
                <a:solidFill>
                  <a:srgbClr val="E0E0E0"/>
                </a:solidFill>
                <a:latin typeface="ui-monospace"/>
                <a:ea typeface="ui-monospace"/>
                <a:hlinkClick r:id="rId4"/>
              </a:rPr>
              <a:t>Github Repo</a:t>
            </a:r>
            <a:r>
              <a:rPr lang="en-US" sz="950" noProof="1">
                <a:solidFill>
                  <a:srgbClr val="E0E0E0"/>
                </a:solidFill>
                <a:latin typeface="ui-monospace"/>
                <a:ea typeface="ui-monospace"/>
              </a:rPr>
              <a:t>)</a:t>
            </a:r>
            <a:endParaRPr lang="en-US" sz="1000" noProof="1"/>
          </a:p>
          <a:p>
            <a:pPr algn="l">
              <a:lnSpc>
                <a:spcPct val="145000"/>
              </a:lnSpc>
              <a:spcBef>
                <a:spcPts val="300"/>
              </a:spcBef>
            </a:pPr>
            <a:r>
              <a:rPr lang="en-US" sz="950" b="1" noProof="1">
                <a:solidFill>
                  <a:srgbClr val="E0E0E0"/>
                </a:solidFill>
                <a:latin typeface="Poppins"/>
                <a:ea typeface="Poppins"/>
              </a:rPr>
              <a:t>wandb:</a:t>
            </a: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  (</a:t>
            </a: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  <a:hlinkClick r:id="rId5"/>
              </a:rPr>
              <a:t>Image Restoration Training Metrics</a:t>
            </a:r>
            <a:r>
              <a:rPr lang="en-US" sz="950" noProof="1">
                <a:solidFill>
                  <a:srgbClr val="E0E0E0"/>
                </a:solidFill>
                <a:latin typeface="Poppins"/>
                <a:ea typeface="Poppins"/>
              </a:rPr>
              <a:t> )</a:t>
            </a:r>
            <a:endParaRPr lang="en-US" sz="1000" noProof="1"/>
          </a:p>
        </p:txBody>
      </p:sp>
      <p:sp>
        <p:nvSpPr>
          <p:cNvPr id="16" name="c12-next"/>
          <p:cNvSpPr/>
          <p:nvPr/>
        </p:nvSpPr>
        <p:spPr>
          <a:xfrm>
            <a:off x="6604000" y="3860800"/>
            <a:ext cx="4635500" cy="16256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</a:ln>
        </p:spPr>
      </p:sp>
      <p:sp>
        <p:nvSpPr>
          <p:cNvPr id="17" name="c12-next-t"/>
          <p:cNvSpPr txBox="1"/>
          <p:nvPr/>
        </p:nvSpPr>
        <p:spPr>
          <a:xfrm>
            <a:off x="6807200" y="3987800"/>
            <a:ext cx="42291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noProof="1">
                <a:solidFill>
                  <a:srgbClr val="9CA3AF"/>
                </a:solidFill>
                <a:latin typeface="Poppins"/>
                <a:ea typeface="Poppins"/>
              </a:rPr>
              <a:t>NEXT STEPS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6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BSD500 + DIV2K data for OOD generalisation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Fix1 (FFT = 0.35) with full 200+ epoch training</a:t>
            </a:r>
            <a:endParaRPr lang="en-US" sz="1000" noProof="1"/>
          </a:p>
          <a:p>
            <a:pPr marL="177800" algn="l">
              <a:lnSpc>
                <a:spcPct val="145000"/>
              </a:lnSpc>
              <a:spcBef>
                <a:spcPts val="400"/>
              </a:spcBef>
              <a:buChar char="•"/>
            </a:pPr>
            <a:r>
              <a:rPr lang="en-US" sz="1000" noProof="1">
                <a:solidFill>
                  <a:srgbClr val="E0E0E0"/>
                </a:solidFill>
                <a:latin typeface="Poppins"/>
                <a:ea typeface="Poppins"/>
              </a:rPr>
              <a:t>Official NAFNet pretrained initialisation</a:t>
            </a:r>
            <a:endParaRPr lang="en-US" sz="1000" noProof="1"/>
          </a:p>
        </p:txBody>
      </p:sp>
      <p:sp>
        <p:nvSpPr>
          <p:cNvPr id="18" name="c12-l1"/>
          <p:cNvSpPr txBox="1"/>
          <p:nvPr/>
        </p:nvSpPr>
        <p:spPr>
          <a:xfrm>
            <a:off x="952500" y="5613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b="1" noProof="1">
                <a:solidFill>
                  <a:srgbClr val="9CA3AF"/>
                </a:solidFill>
                <a:latin typeface="Poppins"/>
                <a:ea typeface="Poppins"/>
              </a:rPr>
              <a:t>EXTERNAL RESOURCES — FULLY DISCLOSED</a:t>
            </a:r>
            <a:endParaRPr lang="en-US" sz="900" noProof="1"/>
          </a:p>
        </p:txBody>
      </p:sp>
      <p:graphicFrame>
        <p:nvGraphicFramePr>
          <p:cNvPr id="19" name="c12-table"/>
          <p:cNvGraphicFramePr>
            <a:graphicFrameLocks noGrp="1"/>
          </p:cNvGraphicFramePr>
          <p:nvPr/>
        </p:nvGraphicFramePr>
        <p:xfrm>
          <a:off x="952500" y="5816600"/>
          <a:ext cx="8890000" cy="66294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992">
                <a:tc>
                  <a:txBody>
                    <a:bodyPr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Resource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Licence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Poppins"/>
                          <a:ea typeface="Poppins"/>
                        </a:rPr>
                        <a:t>Use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1D4ED8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lpips v0.1.4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BSD-2-Clause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Validation metric only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NAFNet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MIT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E0E0E0"/>
                          </a:solidFill>
                          <a:latin typeface="Poppins"/>
                          <a:ea typeface="Poppins"/>
                        </a:rPr>
                        <a:t>Architecture reference — no pretrained weights</a:t>
                      </a:r>
                    </a:p>
                  </a:txBody>
                  <a:tcPr anchor="ctr">
                    <a:lnL w="12700">
                      <a:solidFill>
                        <a:srgbClr val="88E555">
                          <a:alpha val="20000"/>
                        </a:srgbClr>
                      </a:solidFill>
                    </a:lnL>
                    <a:lnR w="12700">
                      <a:solidFill>
                        <a:srgbClr val="88E555">
                          <a:alpha val="20000"/>
                        </a:srgbClr>
                      </a:solidFill>
                    </a:lnR>
                    <a:lnT w="12700">
                      <a:solidFill>
                        <a:srgbClr val="88E555">
                          <a:alpha val="20000"/>
                        </a:srgbClr>
                      </a:solidFill>
                    </a:lnT>
                    <a:lnB w="12700">
                      <a:solidFill>
                        <a:srgbClr val="88E555">
                          <a:alpha val="20000"/>
                        </a:srgbClr>
                      </a:solidFill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c12-thanks"/>
          <p:cNvSpPr txBox="1"/>
          <p:nvPr/>
        </p:nvSpPr>
        <p:spPr>
          <a:xfrm>
            <a:off x="10033000" y="5816600"/>
            <a:ext cx="1206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b="1" noProof="1">
                <a:solidFill>
                  <a:srgbClr val="AEFF82"/>
                </a:solidFill>
                <a:latin typeface="Poppins"/>
                <a:ea typeface="Poppins"/>
              </a:rPr>
              <a:t>Thank you!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1799</Words>
  <Application>Microsoft Office PowerPoint</Application>
  <PresentationFormat>Widescreen</PresentationFormat>
  <Paragraphs>250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Poppins</vt:lpstr>
      <vt:lpstr>ui-monospace</vt:lpstr>
      <vt:lpstr>PPTD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DegradationAwareNAFNet — KLA Semiconductor Image Restoration (Hackathon 2026)</dc:title>
  <cp:lastModifiedBy>SUNANDAN BASANTIA</cp:lastModifiedBy>
  <cp:revision>4</cp:revision>
  <dcterms:modified xsi:type="dcterms:W3CDTF">2026-08-18T12:42:47Z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